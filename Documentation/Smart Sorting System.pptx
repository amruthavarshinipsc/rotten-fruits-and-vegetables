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1"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思源黑体-思源黑体-Medium" charset="-128"/>
      <p:regular r:id="rId13"/>
    </p:embeddedFont>
    <p:embeddedFont>
      <p:font typeface="Wingdings 3" pitchFamily="18" charset="2"/>
      <p:regular r:id="rId14"/>
    </p:embeddedFont>
    <p:embeddedFont>
      <p:font typeface="Calibri" pitchFamily="34" charset="0"/>
      <p:regular r:id="rId15"/>
      <p:bold r:id="rId16"/>
      <p:italic r:id="rId17"/>
      <p:boldItalic r:id="rId18"/>
    </p:embeddedFont>
    <p:embeddedFont>
      <p:font typeface="Tw Cen MT" pitchFamily="34" charset="0"/>
      <p:regular r:id="rId19"/>
      <p:bold r:id="rId20"/>
      <p:italic r:id="rId21"/>
      <p:boldItalic r:id="rId22"/>
    </p:embeddedFont>
    <p:embeddedFont>
      <p:font typeface="Tw Cen MT Condensed" pitchFamily="34" charset="0"/>
      <p:regular r:id="rId23"/>
      <p:bold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9" d="100"/>
          <a:sy n="79" d="100"/>
        </p:scale>
        <p:origin x="-178" y="230"/>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210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1"/>
            <a:ext cx="14630400" cy="54864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1"/>
            <a:ext cx="14630400" cy="54864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48640" y="5952164"/>
            <a:ext cx="9326880" cy="1755648"/>
          </a:xfrm>
        </p:spPr>
        <p:txBody>
          <a:bodyPr anchor="ctr">
            <a:normAutofit/>
          </a:bodyPr>
          <a:lstStyle>
            <a:lvl1pPr algn="r">
              <a:defRPr sz="6000" spc="240" baseline="0"/>
            </a:lvl1pPr>
          </a:lstStyle>
          <a:p>
            <a:r>
              <a:rPr lang="en-US"/>
              <a:t>Click to edit Master title style</a:t>
            </a:r>
            <a:endParaRPr lang="en-US" dirty="0"/>
          </a:p>
        </p:txBody>
      </p:sp>
      <p:sp>
        <p:nvSpPr>
          <p:cNvPr id="3" name="Subtitle 2"/>
          <p:cNvSpPr>
            <a:spLocks noGrp="1"/>
          </p:cNvSpPr>
          <p:nvPr>
            <p:ph type="subTitle" idx="1"/>
          </p:nvPr>
        </p:nvSpPr>
        <p:spPr>
          <a:xfrm>
            <a:off x="10332720" y="5952164"/>
            <a:ext cx="3840480" cy="1755648"/>
          </a:xfrm>
        </p:spPr>
        <p:txBody>
          <a:bodyPr lIns="91440" rIns="91440" anchor="ctr">
            <a:normAutofit/>
          </a:bodyPr>
          <a:lstStyle>
            <a:lvl1pPr marL="0" indent="0" algn="l">
              <a:lnSpc>
                <a:spcPct val="100000"/>
              </a:lnSpc>
              <a:spcBef>
                <a:spcPts val="0"/>
              </a:spcBef>
              <a:buNone/>
              <a:defRPr sz="2160">
                <a:solidFill>
                  <a:schemeClr val="tx1">
                    <a:lumMod val="95000"/>
                    <a:lumOff val="5000"/>
                  </a:schemeClr>
                </a:solidFill>
              </a:defRPr>
            </a:lvl1pPr>
            <a:lvl2pPr marL="548640" indent="0" algn="ctr">
              <a:buNone/>
              <a:defRPr sz="2160"/>
            </a:lvl2pPr>
            <a:lvl3pPr marL="1097280" indent="0" algn="ctr">
              <a:buNone/>
              <a:defRPr sz="2160"/>
            </a:lvl3pPr>
            <a:lvl4pPr marL="1645920" indent="0" algn="ctr">
              <a:buNone/>
              <a:defRPr sz="2160"/>
            </a:lvl4pPr>
            <a:lvl5pPr marL="2194560" indent="0" algn="ctr">
              <a:buNone/>
              <a:defRPr sz="2160"/>
            </a:lvl5pPr>
            <a:lvl6pPr marL="2743200" indent="0" algn="ctr">
              <a:buNone/>
              <a:defRPr sz="2160"/>
            </a:lvl6pPr>
            <a:lvl7pPr marL="3291840" indent="0" algn="ctr">
              <a:buNone/>
              <a:defRPr sz="2160"/>
            </a:lvl7pPr>
            <a:lvl8pPr marL="3840480" indent="0" algn="ctr">
              <a:buNone/>
              <a:defRPr sz="2160"/>
            </a:lvl8pPr>
            <a:lvl9pPr marL="4389120" indent="0" algn="ctr">
              <a:buNone/>
              <a:defRPr sz="21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10064212" y="6316927"/>
            <a:ext cx="0" cy="10972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671220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94428938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1"/>
            <a:ext cx="14630400" cy="54864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1"/>
            <a:ext cx="14630400" cy="54864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8640" y="5952164"/>
            <a:ext cx="9326880" cy="1755648"/>
          </a:xfrm>
        </p:spPr>
        <p:txBody>
          <a:bodyPr anchor="ctr">
            <a:normAutofit/>
          </a:bodyPr>
          <a:lstStyle>
            <a:lvl1pPr algn="r">
              <a:defRPr sz="6000" b="0" spc="240" baseline="0"/>
            </a:lvl1pPr>
          </a:lstStyle>
          <a:p>
            <a:r>
              <a:rPr lang="en-US"/>
              <a:t>Click to edit Master title style</a:t>
            </a:r>
            <a:endParaRPr lang="en-US" dirty="0"/>
          </a:p>
        </p:txBody>
      </p:sp>
      <p:sp>
        <p:nvSpPr>
          <p:cNvPr id="3" name="Text Placeholder 2"/>
          <p:cNvSpPr>
            <a:spLocks noGrp="1"/>
          </p:cNvSpPr>
          <p:nvPr>
            <p:ph type="body" idx="1"/>
          </p:nvPr>
        </p:nvSpPr>
        <p:spPr>
          <a:xfrm>
            <a:off x="10332720" y="5952164"/>
            <a:ext cx="3840480" cy="1755648"/>
          </a:xfrm>
        </p:spPr>
        <p:txBody>
          <a:bodyPr lIns="91440" rIns="91440" anchor="ctr">
            <a:normAutofit/>
          </a:bodyPr>
          <a:lstStyle>
            <a:lvl1pPr marL="0" indent="0">
              <a:lnSpc>
                <a:spcPct val="100000"/>
              </a:lnSpc>
              <a:spcBef>
                <a:spcPts val="0"/>
              </a:spcBef>
              <a:buNone/>
              <a:defRPr sz="2160">
                <a:solidFill>
                  <a:schemeClr val="tx1">
                    <a:lumMod val="95000"/>
                    <a:lumOff val="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10064212" y="6316927"/>
            <a:ext cx="0" cy="10972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624212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28954" y="702259"/>
            <a:ext cx="11664086" cy="179953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228952" y="2743200"/>
            <a:ext cx="5705856"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87184" y="2743200"/>
            <a:ext cx="5705856"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06542764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28954" y="2615563"/>
            <a:ext cx="5705856" cy="987552"/>
          </a:xfrm>
        </p:spPr>
        <p:txBody>
          <a:bodyPr lIns="137160" rIns="137160" anchor="ctr">
            <a:normAutofit/>
          </a:bodyPr>
          <a:lstStyle>
            <a:lvl1pPr marL="0" indent="0">
              <a:spcBef>
                <a:spcPts val="0"/>
              </a:spcBef>
              <a:spcAft>
                <a:spcPts val="0"/>
              </a:spcAft>
              <a:buNone/>
              <a:defRPr sz="2760" b="0" cap="none" baseline="0">
                <a:solidFill>
                  <a:schemeClr val="accent1"/>
                </a:solidFill>
                <a:latin typeface="+mn-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228954" y="3561346"/>
            <a:ext cx="5705856" cy="4009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189066" y="2615563"/>
            <a:ext cx="5705856" cy="987552"/>
          </a:xfrm>
        </p:spPr>
        <p:txBody>
          <a:bodyPr lIns="137160" rIns="137160" anchor="ctr">
            <a:normAutofit/>
          </a:bodyPr>
          <a:lstStyle>
            <a:lvl1pPr marL="0" indent="0">
              <a:spcBef>
                <a:spcPts val="0"/>
              </a:spcBef>
              <a:spcAft>
                <a:spcPts val="0"/>
              </a:spcAft>
              <a:buNone/>
              <a:defRPr lang="en-US" sz="2760" b="0" kern="1200" cap="none" baseline="0" dirty="0">
                <a:solidFill>
                  <a:schemeClr val="accent1"/>
                </a:solidFill>
                <a:latin typeface="+mn-lt"/>
                <a:ea typeface="+mn-ea"/>
                <a:cs typeface="+mn-cs"/>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marL="0" lvl="0" indent="0" algn="l" defTabSz="1097280" rtl="0" eaLnBrk="1" latinLnBrk="0" hangingPunct="1">
              <a:lnSpc>
                <a:spcPct val="90000"/>
              </a:lnSpc>
              <a:spcBef>
                <a:spcPts val="2160"/>
              </a:spcBef>
              <a:buNone/>
            </a:pPr>
            <a:r>
              <a:rPr lang="en-US"/>
              <a:t>Click to edit Master text styles</a:t>
            </a:r>
          </a:p>
        </p:txBody>
      </p:sp>
      <p:sp>
        <p:nvSpPr>
          <p:cNvPr id="6" name="Content Placeholder 5"/>
          <p:cNvSpPr>
            <a:spLocks noGrp="1"/>
          </p:cNvSpPr>
          <p:nvPr>
            <p:ph sz="quarter" idx="4"/>
          </p:nvPr>
        </p:nvSpPr>
        <p:spPr>
          <a:xfrm>
            <a:off x="7189066" y="3561346"/>
            <a:ext cx="5705856" cy="4009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2/20/2026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09897632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2/20/2026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26574092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2/20/2026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51662611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228954" y="565811"/>
            <a:ext cx="5266944" cy="2084832"/>
          </a:xfrm>
        </p:spPr>
        <p:txBody>
          <a:bodyPr>
            <a:noAutofit/>
          </a:bodyPr>
          <a:lstStyle>
            <a:lvl1pPr>
              <a:lnSpc>
                <a:spcPct val="80000"/>
              </a:lnSpc>
              <a:defRPr sz="4800"/>
            </a:lvl1pPr>
          </a:lstStyle>
          <a:p>
            <a:r>
              <a:rPr lang="en-US"/>
              <a:t>Click to edit Master title style</a:t>
            </a:r>
            <a:endParaRPr lang="en-US" dirty="0"/>
          </a:p>
        </p:txBody>
      </p:sp>
      <p:sp>
        <p:nvSpPr>
          <p:cNvPr id="3" name="Content Placeholder 2"/>
          <p:cNvSpPr>
            <a:spLocks noGrp="1"/>
          </p:cNvSpPr>
          <p:nvPr>
            <p:ph idx="1"/>
          </p:nvPr>
        </p:nvSpPr>
        <p:spPr>
          <a:xfrm>
            <a:off x="6858000" y="987552"/>
            <a:ext cx="6814109" cy="6221578"/>
          </a:xfrm>
        </p:spPr>
        <p:txBody>
          <a:bodyPr/>
          <a:lstStyle>
            <a:lvl1pPr>
              <a:defRPr sz="2880"/>
            </a:lvl1pPr>
            <a:lvl2pPr>
              <a:defRPr sz="2400"/>
            </a:lvl2pPr>
            <a:lvl3pPr>
              <a:defRPr sz="192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28954" y="2709007"/>
            <a:ext cx="5266944" cy="4514753"/>
          </a:xfrm>
        </p:spPr>
        <p:txBody>
          <a:bodyPr lIns="91440" rIns="91440">
            <a:normAutofit/>
          </a:bodyPr>
          <a:lstStyle>
            <a:lvl1pPr marL="0" indent="0">
              <a:lnSpc>
                <a:spcPct val="108000"/>
              </a:lnSpc>
              <a:spcBef>
                <a:spcPts val="720"/>
              </a:spcBef>
              <a:buNone/>
              <a:defRPr sz="192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10744552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5952166"/>
            <a:ext cx="9326880" cy="1755648"/>
          </a:xfrm>
        </p:spPr>
        <p:txBody>
          <a:bodyPr anchor="ctr">
            <a:normAutofit/>
          </a:bodyPr>
          <a:lstStyle>
            <a:lvl1pPr algn="r">
              <a:defRPr sz="6000" spc="24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4626742" cy="5486400"/>
          </a:xfrm>
          <a:solidFill>
            <a:schemeClr val="accent1">
              <a:lumMod val="60000"/>
              <a:lumOff val="40000"/>
            </a:schemeClr>
          </a:solidFill>
        </p:spPr>
        <p:txBody>
          <a:bodyPr lIns="457200" tIns="365760" rIns="45720" bIns="45720"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332720" y="5952166"/>
            <a:ext cx="3840480" cy="1755648"/>
          </a:xfrm>
        </p:spPr>
        <p:txBody>
          <a:bodyPr lIns="91440" rIns="91440" anchor="ctr">
            <a:normAutofit/>
          </a:bodyPr>
          <a:lstStyle>
            <a:lvl1pPr marL="0" indent="0">
              <a:lnSpc>
                <a:spcPct val="100000"/>
              </a:lnSpc>
              <a:spcBef>
                <a:spcPts val="0"/>
              </a:spcBef>
              <a:buNone/>
              <a:defRPr sz="2160">
                <a:solidFill>
                  <a:schemeClr val="tx1">
                    <a:lumMod val="95000"/>
                    <a:lumOff val="5000"/>
                  </a:schemeClr>
                </a:solidFill>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10064212" y="6316927"/>
            <a:ext cx="0" cy="109728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917277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30248989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1" y="914400"/>
            <a:ext cx="3154680" cy="649224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1188721" y="914400"/>
            <a:ext cx="9098280" cy="64922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2070080" y="71116"/>
            <a:ext cx="0" cy="109728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67023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_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3480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28954" y="702259"/>
            <a:ext cx="11664086" cy="179953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28954" y="2743200"/>
            <a:ext cx="11664088" cy="4828032"/>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28955" y="7764845"/>
            <a:ext cx="2584972" cy="329184"/>
          </a:xfrm>
          <a:prstGeom prst="rect">
            <a:avLst/>
          </a:prstGeom>
        </p:spPr>
        <p:txBody>
          <a:bodyPr vert="horz" lIns="91440" tIns="45720" rIns="91440" bIns="45720" rtlCol="0" anchor="ctr"/>
          <a:lstStyle>
            <a:lvl1pPr algn="l">
              <a:defRPr sz="1200">
                <a:solidFill>
                  <a:schemeClr val="tx1">
                    <a:lumMod val="95000"/>
                    <a:lumOff val="5000"/>
                  </a:schemeClr>
                </a:solidFill>
                <a:latin typeface="+mj-lt"/>
              </a:defRPr>
            </a:lvl1pPr>
          </a:lstStyle>
          <a:p>
            <a:fld id="{90298CD5-6C1E-4009-B41F-6DF62E31D3BE}" type="datetimeFigureOut">
              <a:rPr lang="en-US" dirty="0"/>
              <a:pPr/>
              <a:t>2/20/2026</a:t>
            </a:fld>
            <a:endParaRPr lang="en-US" dirty="0"/>
          </a:p>
        </p:txBody>
      </p:sp>
      <p:sp>
        <p:nvSpPr>
          <p:cNvPr id="5" name="Footer Placeholder 4"/>
          <p:cNvSpPr>
            <a:spLocks noGrp="1"/>
          </p:cNvSpPr>
          <p:nvPr>
            <p:ph type="ftr" sz="quarter" idx="3"/>
          </p:nvPr>
        </p:nvSpPr>
        <p:spPr>
          <a:xfrm>
            <a:off x="5811519" y="7764845"/>
            <a:ext cx="7081751" cy="329184"/>
          </a:xfrm>
          <a:prstGeom prst="rect">
            <a:avLst/>
          </a:prstGeom>
        </p:spPr>
        <p:txBody>
          <a:bodyPr vert="horz" lIns="91440" tIns="45720" rIns="91440" bIns="45720" rtlCol="0" anchor="ctr"/>
          <a:lstStyle>
            <a:lvl1pPr algn="r">
              <a:defRPr sz="12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3004800" y="7764845"/>
            <a:ext cx="1168400" cy="329184"/>
          </a:xfrm>
          <a:prstGeom prst="rect">
            <a:avLst/>
          </a:prstGeom>
        </p:spPr>
        <p:txBody>
          <a:bodyPr vert="horz" lIns="91440" tIns="45720" rIns="91440" bIns="45720" rtlCol="0" anchor="ctr"/>
          <a:lstStyle>
            <a:lvl1pPr algn="l">
              <a:defRPr sz="12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914400" y="991589"/>
            <a:ext cx="0" cy="109728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7304038"/>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1097280" rtl="0" eaLnBrk="1" latinLnBrk="0" hangingPunct="1">
        <a:lnSpc>
          <a:spcPct val="80000"/>
        </a:lnSpc>
        <a:spcBef>
          <a:spcPct val="0"/>
        </a:spcBef>
        <a:buNone/>
        <a:defRPr sz="6000" kern="1200" cap="all" spc="120" baseline="0">
          <a:solidFill>
            <a:schemeClr val="tx1">
              <a:lumMod val="95000"/>
              <a:lumOff val="5000"/>
            </a:schemeClr>
          </a:solidFill>
          <a:latin typeface="+mj-lt"/>
          <a:ea typeface="+mj-ea"/>
          <a:cs typeface="+mj-cs"/>
        </a:defRPr>
      </a:lvl1pPr>
    </p:titleStyle>
    <p:bodyStyle>
      <a:lvl1pPr marL="109728" indent="-109728" algn="l" defTabSz="1097280" rtl="0" eaLnBrk="1" latinLnBrk="0" hangingPunct="1">
        <a:lnSpc>
          <a:spcPct val="90000"/>
        </a:lnSpc>
        <a:spcBef>
          <a:spcPts val="1440"/>
        </a:spcBef>
        <a:spcAft>
          <a:spcPts val="240"/>
        </a:spcAft>
        <a:buClr>
          <a:schemeClr val="accent1"/>
        </a:buClr>
        <a:buSzPct val="100000"/>
        <a:buFont typeface="Tw Cen MT" panose="020B0602020104020603" pitchFamily="34" charset="0"/>
        <a:buChar char=" "/>
        <a:defRPr sz="2640" kern="1200">
          <a:solidFill>
            <a:schemeClr val="tx1"/>
          </a:solidFill>
          <a:latin typeface="+mn-lt"/>
          <a:ea typeface="+mn-ea"/>
          <a:cs typeface="+mn-cs"/>
        </a:defRPr>
      </a:lvl1pPr>
      <a:lvl2pPr marL="318211" indent="-164592" algn="l" defTabSz="1097280" rtl="0" eaLnBrk="1" latinLnBrk="0" hangingPunct="1">
        <a:lnSpc>
          <a:spcPct val="90000"/>
        </a:lnSpc>
        <a:spcBef>
          <a:spcPts val="240"/>
        </a:spcBef>
        <a:spcAft>
          <a:spcPts val="480"/>
        </a:spcAft>
        <a:buClr>
          <a:schemeClr val="accent1"/>
        </a:buClr>
        <a:buFont typeface="Wingdings 3" pitchFamily="18" charset="2"/>
        <a:buChar char=""/>
        <a:defRPr sz="2160" kern="1200">
          <a:solidFill>
            <a:schemeClr val="tx1"/>
          </a:solidFill>
          <a:latin typeface="+mn-lt"/>
          <a:ea typeface="+mn-ea"/>
          <a:cs typeface="+mn-cs"/>
        </a:defRPr>
      </a:lvl2pPr>
      <a:lvl3pPr marL="537667"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3pPr>
      <a:lvl4pPr marL="713232"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4pPr>
      <a:lvl5pPr marL="932688"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5pPr>
      <a:lvl6pPr marL="1097280"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6pPr>
      <a:lvl7pPr marL="1272845"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7pPr>
      <a:lvl8pPr marL="1459382"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8pPr>
      <a:lvl9pPr marL="1634947"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0"/>
          <p:cNvSpPr/>
          <p:nvPr/>
        </p:nvSpPr>
        <p:spPr>
          <a:xfrm>
            <a:off x="832104" y="3456432"/>
            <a:ext cx="12984480" cy="1024128"/>
          </a:xfrm>
          <a:prstGeom prst="rect">
            <a:avLst/>
          </a:prstGeom>
          <a:noFill/>
          <a:ln/>
        </p:spPr>
        <p:txBody>
          <a:bodyPr wrap="none" lIns="0" tIns="0" rIns="0" bIns="0" rtlCol="0" anchor="ctr"/>
          <a:lstStyle/>
          <a:p>
            <a:pPr marL="0" indent="0" algn="l">
              <a:lnSpc>
                <a:spcPts val="8010"/>
              </a:lnSpc>
              <a:buNone/>
            </a:pPr>
            <a:r>
              <a:rPr lang="en-US" sz="6410" dirty="0">
                <a:solidFill>
                  <a:srgbClr val="FF0000"/>
                </a:solidFill>
                <a:latin typeface="思源黑体-思源黑体-Medium" pitchFamily="34" charset="0"/>
                <a:ea typeface="思源黑体-思源黑体-Medium" pitchFamily="34" charset="-122"/>
                <a:cs typeface="思源黑体-思源黑体-Medium" pitchFamily="34" charset="-120"/>
              </a:rPr>
              <a:t>Smart Sorting System</a:t>
            </a:r>
            <a:endParaRPr lang="en-US" sz="6410" dirty="0">
              <a:solidFill>
                <a:srgbClr val="FF0000"/>
              </a:solidFill>
            </a:endParaRPr>
          </a:p>
        </p:txBody>
      </p:sp>
      <p:sp>
        <p:nvSpPr>
          <p:cNvPr id="5" name="Text 1"/>
          <p:cNvSpPr/>
          <p:nvPr/>
        </p:nvSpPr>
        <p:spPr>
          <a:xfrm>
            <a:off x="832104" y="4736592"/>
            <a:ext cx="12984480" cy="594360"/>
          </a:xfrm>
          <a:prstGeom prst="rect">
            <a:avLst/>
          </a:prstGeom>
          <a:noFill/>
          <a:ln/>
        </p:spPr>
        <p:txBody>
          <a:bodyPr wrap="square" lIns="0" tIns="0" rIns="0" bIns="0" rtlCol="0" anchor="ctr"/>
          <a:lstStyle/>
          <a:p>
            <a:pPr marL="0" indent="0" algn="l">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This project focuses on using transfer learning techniques to identify rotten fruits and vegetables. By automating the sorting process, it aims to improve efficiency and accuracy in the agricultural and food industry.</a:t>
            </a:r>
            <a:endParaRPr lang="en-US" sz="1850" dirty="0"/>
          </a:p>
        </p:txBody>
      </p:sp>
      <p:pic>
        <p:nvPicPr>
          <p:cNvPr id="1026" name="Picture 2" descr="Is It Necessary to Sort Fruits And Vegetables? - Professional Fruit And  Vegetable Juicer Machine Manufacturer Suppli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247850"/>
            <a:ext cx="14630400" cy="3348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5097447" y="3142748"/>
            <a:ext cx="950976" cy="1088136"/>
          </a:xfrm>
          <a:prstGeom prst="rect">
            <a:avLst/>
          </a:prstGeom>
        </p:spPr>
      </p:pic>
      <p:pic>
        <p:nvPicPr>
          <p:cNvPr id="4" name="Image 2" descr="preencoded.png"/>
          <p:cNvPicPr>
            <a:picLocks noChangeAspect="1"/>
          </p:cNvPicPr>
          <p:nvPr/>
        </p:nvPicPr>
        <p:blipFill>
          <a:blip r:embed="rId4"/>
          <a:stretch>
            <a:fillRect/>
          </a:stretch>
        </p:blipFill>
        <p:spPr>
          <a:xfrm>
            <a:off x="8435007" y="3142748"/>
            <a:ext cx="950976" cy="1088136"/>
          </a:xfrm>
          <a:prstGeom prst="rect">
            <a:avLst/>
          </a:prstGeom>
        </p:spPr>
      </p:pic>
      <p:pic>
        <p:nvPicPr>
          <p:cNvPr id="5" name="Image 3" descr="preencoded.png"/>
          <p:cNvPicPr>
            <a:picLocks noChangeAspect="1"/>
          </p:cNvPicPr>
          <p:nvPr/>
        </p:nvPicPr>
        <p:blipFill>
          <a:blip r:embed="rId5"/>
          <a:stretch>
            <a:fillRect/>
          </a:stretch>
        </p:blipFill>
        <p:spPr>
          <a:xfrm>
            <a:off x="11836575" y="3142748"/>
            <a:ext cx="822960" cy="1088136"/>
          </a:xfrm>
          <a:prstGeom prst="rect">
            <a:avLst/>
          </a:prstGeom>
        </p:spPr>
      </p:pic>
      <p:pic>
        <p:nvPicPr>
          <p:cNvPr id="6" name="Image 4" descr="preencoded.png"/>
          <p:cNvPicPr>
            <a:picLocks noChangeAspect="1"/>
          </p:cNvPicPr>
          <p:nvPr/>
        </p:nvPicPr>
        <p:blipFill>
          <a:blip r:embed="rId6"/>
          <a:stretch>
            <a:fillRect/>
          </a:stretch>
        </p:blipFill>
        <p:spPr>
          <a:xfrm>
            <a:off x="1769031" y="3142748"/>
            <a:ext cx="950976" cy="1088136"/>
          </a:xfrm>
          <a:prstGeom prst="rect">
            <a:avLst/>
          </a:prstGeom>
        </p:spPr>
      </p:pic>
      <p:sp>
        <p:nvSpPr>
          <p:cNvPr id="7" name="Text 0"/>
          <p:cNvSpPr/>
          <p:nvPr/>
        </p:nvSpPr>
        <p:spPr>
          <a:xfrm>
            <a:off x="882063" y="4468628"/>
            <a:ext cx="2715768" cy="374904"/>
          </a:xfrm>
          <a:prstGeom prst="rect">
            <a:avLst/>
          </a:prstGeom>
          <a:noFill/>
          <a:ln/>
        </p:spPr>
        <p:txBody>
          <a:bodyPr wrap="none" lIns="0" tIns="0" rIns="0" bIns="0" rtlCol="0" anchor="ctr"/>
          <a:lstStyle/>
          <a:p>
            <a:pPr marL="0" indent="0" algn="ctr">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Branch Name</a:t>
            </a:r>
            <a:endParaRPr lang="en-US" sz="2320" dirty="0"/>
          </a:p>
        </p:txBody>
      </p:sp>
      <p:sp>
        <p:nvSpPr>
          <p:cNvPr id="8" name="Text 1"/>
          <p:cNvSpPr/>
          <p:nvPr/>
        </p:nvSpPr>
        <p:spPr>
          <a:xfrm>
            <a:off x="4219623" y="4980692"/>
            <a:ext cx="2715768" cy="594360"/>
          </a:xfrm>
          <a:prstGeom prst="rect">
            <a:avLst/>
          </a:prstGeom>
          <a:noFill/>
          <a:ln/>
        </p:spPr>
        <p:txBody>
          <a:bodyPr wrap="square" lIns="0" tIns="0" rIns="0" bIns="0" rtlCol="0" anchor="ctr"/>
          <a:lstStyle/>
          <a:p>
            <a:pPr marL="0" indent="0" algn="ctr">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Artificial Intelligence and Machine Learning</a:t>
            </a:r>
            <a:endParaRPr lang="en-US" sz="1850" dirty="0"/>
          </a:p>
        </p:txBody>
      </p:sp>
      <p:sp>
        <p:nvSpPr>
          <p:cNvPr id="9" name="Text 2"/>
          <p:cNvSpPr/>
          <p:nvPr/>
        </p:nvSpPr>
        <p:spPr>
          <a:xfrm>
            <a:off x="7548039" y="4980692"/>
            <a:ext cx="2715768" cy="301752"/>
          </a:xfrm>
          <a:prstGeom prst="rect">
            <a:avLst/>
          </a:prstGeom>
          <a:noFill/>
          <a:ln/>
        </p:spPr>
        <p:txBody>
          <a:bodyPr wrap="none" lIns="0" tIns="0" rIns="0" bIns="0" rtlCol="0" anchor="ctr"/>
          <a:lstStyle/>
          <a:p>
            <a:pPr marL="0" indent="0" algn="ctr">
              <a:lnSpc>
                <a:spcPts val="2320"/>
              </a:lnSpc>
              <a:buNone/>
            </a:pPr>
            <a:r>
              <a:rPr lang="en-US" sz="1850" dirty="0" smtClean="0">
                <a:solidFill>
                  <a:srgbClr val="3B3B3B"/>
                </a:solidFill>
                <a:latin typeface="思源黑体-思源黑体-Medium" pitchFamily="34" charset="0"/>
                <a:ea typeface="思源黑体-思源黑体-Medium" pitchFamily="34" charset="-122"/>
              </a:rPr>
              <a:t>  </a:t>
            </a:r>
            <a:r>
              <a:rPr lang="en-US" sz="1850" dirty="0" err="1" smtClean="0">
                <a:solidFill>
                  <a:srgbClr val="3B3B3B"/>
                </a:solidFill>
                <a:latin typeface="思源黑体-思源黑体-Medium" pitchFamily="34" charset="0"/>
                <a:ea typeface="思源黑体-思源黑体-Medium" pitchFamily="34" charset="-122"/>
              </a:rPr>
              <a:t>Posina</a:t>
            </a:r>
            <a:r>
              <a:rPr lang="en-US" sz="1850" dirty="0" smtClean="0">
                <a:solidFill>
                  <a:srgbClr val="3B3B3B"/>
                </a:solidFill>
                <a:latin typeface="思源黑体-思源黑体-Medium" pitchFamily="34" charset="0"/>
                <a:ea typeface="思源黑体-思源黑体-Medium" pitchFamily="34" charset="-122"/>
              </a:rPr>
              <a:t> </a:t>
            </a:r>
            <a:r>
              <a:rPr lang="en-US" sz="1850" dirty="0" err="1" smtClean="0">
                <a:solidFill>
                  <a:srgbClr val="3B3B3B"/>
                </a:solidFill>
                <a:latin typeface="思源黑体-思源黑体-Medium" pitchFamily="34" charset="0"/>
                <a:ea typeface="思源黑体-思源黑体-Medium" pitchFamily="34" charset="-122"/>
              </a:rPr>
              <a:t>Sai</a:t>
            </a:r>
            <a:r>
              <a:rPr lang="en-US" sz="1850" dirty="0" smtClean="0">
                <a:solidFill>
                  <a:srgbClr val="3B3B3B"/>
                </a:solidFill>
                <a:latin typeface="思源黑体-思源黑体-Medium" pitchFamily="34" charset="0"/>
                <a:ea typeface="思源黑体-思源黑体-Medium" pitchFamily="34" charset="-122"/>
              </a:rPr>
              <a:t> Chakra </a:t>
            </a:r>
            <a:r>
              <a:rPr lang="en-US" sz="1850" dirty="0" err="1" smtClean="0">
                <a:solidFill>
                  <a:srgbClr val="3B3B3B"/>
                </a:solidFill>
                <a:latin typeface="思源黑体-思源黑体-Medium" pitchFamily="34" charset="0"/>
                <a:ea typeface="思源黑体-思源黑体-Medium" pitchFamily="34" charset="-122"/>
              </a:rPr>
              <a:t>Amrutha</a:t>
            </a:r>
            <a:r>
              <a:rPr lang="en-US" sz="1850" dirty="0" smtClean="0">
                <a:solidFill>
                  <a:srgbClr val="3B3B3B"/>
                </a:solidFill>
                <a:latin typeface="思源黑体-思源黑体-Medium" pitchFamily="34" charset="0"/>
                <a:ea typeface="思源黑体-思源黑体-Medium" pitchFamily="34" charset="-122"/>
              </a:rPr>
              <a:t> </a:t>
            </a:r>
            <a:r>
              <a:rPr lang="en-US" sz="1850" dirty="0" err="1" smtClean="0">
                <a:solidFill>
                  <a:srgbClr val="3B3B3B"/>
                </a:solidFill>
                <a:latin typeface="思源黑体-思源黑体-Medium" pitchFamily="34" charset="0"/>
                <a:ea typeface="思源黑体-思源黑体-Medium" pitchFamily="34" charset="-122"/>
              </a:rPr>
              <a:t>Varshini</a:t>
            </a:r>
            <a:endParaRPr lang="en-US" sz="1850" dirty="0"/>
          </a:p>
        </p:txBody>
      </p:sp>
      <p:sp>
        <p:nvSpPr>
          <p:cNvPr id="10" name="Text 3"/>
          <p:cNvSpPr/>
          <p:nvPr/>
        </p:nvSpPr>
        <p:spPr>
          <a:xfrm>
            <a:off x="450733" y="4777963"/>
            <a:ext cx="3568390" cy="1133410"/>
          </a:xfrm>
          <a:prstGeom prst="rect">
            <a:avLst/>
          </a:prstGeom>
          <a:noFill/>
          <a:ln/>
        </p:spPr>
        <p:txBody>
          <a:bodyPr wrap="square" lIns="0" tIns="0" rIns="0" bIns="0" rtlCol="0" anchor="ctr"/>
          <a:lstStyle/>
          <a:p>
            <a:pPr marL="0" indent="0" algn="ctr">
              <a:lnSpc>
                <a:spcPts val="2320"/>
              </a:lnSpc>
              <a:buNone/>
            </a:pPr>
            <a:r>
              <a:rPr lang="en-US" sz="1850" dirty="0" smtClean="0">
                <a:solidFill>
                  <a:srgbClr val="3B3B3B"/>
                </a:solidFill>
                <a:latin typeface="思源黑体-思源黑体-Medium" pitchFamily="34" charset="0"/>
                <a:ea typeface="思源黑体-思源黑体-Medium" pitchFamily="34" charset="-122"/>
                <a:cs typeface="思源黑体-思源黑体-Medium" pitchFamily="34" charset="-120"/>
              </a:rPr>
              <a:t>Computer Science and </a:t>
            </a: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Engineering</a:t>
            </a:r>
            <a:endParaRPr lang="en-US" sz="1850" dirty="0"/>
          </a:p>
        </p:txBody>
      </p:sp>
      <p:sp>
        <p:nvSpPr>
          <p:cNvPr id="11" name="Text 4"/>
          <p:cNvSpPr/>
          <p:nvPr/>
        </p:nvSpPr>
        <p:spPr>
          <a:xfrm>
            <a:off x="10696025" y="4656080"/>
            <a:ext cx="3568389" cy="1581912"/>
          </a:xfrm>
          <a:prstGeom prst="rect">
            <a:avLst/>
          </a:prstGeom>
          <a:noFill/>
          <a:ln/>
        </p:spPr>
        <p:txBody>
          <a:bodyPr wrap="square" lIns="0" tIns="0" rIns="0" bIns="0" rtlCol="0" anchor="ctr"/>
          <a:lstStyle/>
          <a:p>
            <a:pPr marL="0" indent="0" algn="ctr">
              <a:lnSpc>
                <a:spcPts val="2320"/>
              </a:lnSpc>
              <a:buNone/>
            </a:pPr>
            <a:r>
              <a:rPr lang="en-US" sz="1850" dirty="0" smtClean="0">
                <a:solidFill>
                  <a:srgbClr val="3B3B3B"/>
                </a:solidFill>
                <a:latin typeface="思源黑体-思源黑体-Medium" pitchFamily="34" charset="0"/>
                <a:ea typeface="思源黑体-思源黑体-Medium" pitchFamily="34" charset="-122"/>
                <a:cs typeface="思源黑体-思源黑体-Medium" pitchFamily="34" charset="-120"/>
              </a:rPr>
              <a:t>P. </a:t>
            </a:r>
            <a:r>
              <a:rPr lang="en-US" sz="1850" dirty="0" err="1" smtClean="0">
                <a:solidFill>
                  <a:srgbClr val="3B3B3B"/>
                </a:solidFill>
                <a:latin typeface="思源黑体-思源黑体-Medium" pitchFamily="34" charset="0"/>
                <a:ea typeface="思源黑体-思源黑体-Medium" pitchFamily="34" charset="-122"/>
                <a:cs typeface="思源黑体-思源黑体-Medium" pitchFamily="34" charset="-120"/>
              </a:rPr>
              <a:t>Narasimha</a:t>
            </a:r>
            <a:r>
              <a:rPr lang="en-US" sz="1850" dirty="0" smtClean="0">
                <a:solidFill>
                  <a:srgbClr val="3B3B3B"/>
                </a:solidFill>
                <a:latin typeface="思源黑体-思源黑体-Medium" pitchFamily="34" charset="0"/>
                <a:ea typeface="思源黑体-思源黑体-Medium" pitchFamily="34" charset="-122"/>
                <a:cs typeface="思源黑体-思源黑体-Medium" pitchFamily="34" charset="-120"/>
              </a:rPr>
              <a:t> Rajesh, </a:t>
            </a:r>
            <a:endParaRPr lang="en-US" sz="1850" dirty="0">
              <a:solidFill>
                <a:srgbClr val="3B3B3B"/>
              </a:solidFill>
              <a:latin typeface="思源黑体-思源黑体-Medium" pitchFamily="34" charset="0"/>
              <a:ea typeface="思源黑体-思源黑体-Medium" pitchFamily="34" charset="-122"/>
              <a:cs typeface="思源黑体-思源黑体-Medium" pitchFamily="34" charset="-120"/>
            </a:endParaRPr>
          </a:p>
          <a:p>
            <a:pPr marL="0" indent="0" algn="ctr">
              <a:lnSpc>
                <a:spcPts val="2320"/>
              </a:lnSpc>
              <a:buNone/>
            </a:pPr>
            <a:r>
              <a:rPr lang="en-US" sz="1850" dirty="0" smtClean="0">
                <a:solidFill>
                  <a:srgbClr val="3B3B3B"/>
                </a:solidFill>
                <a:latin typeface="思源黑体-思源黑体-Medium" pitchFamily="34" charset="0"/>
                <a:ea typeface="思源黑体-思源黑体-Medium" pitchFamily="34" charset="-122"/>
                <a:cs typeface="思源黑体-思源黑体-Medium" pitchFamily="34" charset="-120"/>
              </a:rPr>
              <a:t>R. </a:t>
            </a:r>
            <a:r>
              <a:rPr lang="en-US" sz="1850" dirty="0" err="1" smtClean="0">
                <a:solidFill>
                  <a:srgbClr val="3B3B3B"/>
                </a:solidFill>
                <a:latin typeface="思源黑体-思源黑体-Medium" pitchFamily="34" charset="0"/>
                <a:ea typeface="思源黑体-思源黑体-Medium" pitchFamily="34" charset="-122"/>
                <a:cs typeface="思源黑体-思源黑体-Medium" pitchFamily="34" charset="-120"/>
              </a:rPr>
              <a:t>Saideepak</a:t>
            </a:r>
            <a:r>
              <a:rPr lang="en-US" sz="1850" dirty="0" smtClean="0">
                <a:solidFill>
                  <a:srgbClr val="3B3B3B"/>
                </a:solidFill>
                <a:latin typeface="思源黑体-思源黑体-Medium" pitchFamily="34" charset="0"/>
                <a:ea typeface="思源黑体-思源黑体-Medium" pitchFamily="34" charset="-122"/>
                <a:cs typeface="思源黑体-思源黑体-Medium" pitchFamily="34" charset="-120"/>
              </a:rPr>
              <a:t>, </a:t>
            </a:r>
            <a:endParaRPr lang="en-US" sz="1850" dirty="0">
              <a:solidFill>
                <a:srgbClr val="3B3B3B"/>
              </a:solidFill>
              <a:latin typeface="思源黑体-思源黑体-Medium" pitchFamily="34" charset="0"/>
              <a:ea typeface="思源黑体-思源黑体-Medium" pitchFamily="34" charset="-122"/>
              <a:cs typeface="思源黑体-思源黑体-Medium" pitchFamily="34" charset="-120"/>
            </a:endParaRPr>
          </a:p>
          <a:p>
            <a:pPr marL="0" indent="0" algn="ctr">
              <a:lnSpc>
                <a:spcPts val="2320"/>
              </a:lnSpc>
              <a:buNone/>
            </a:pPr>
            <a:r>
              <a:rPr lang="en-US" sz="1850" dirty="0" smtClean="0">
                <a:solidFill>
                  <a:srgbClr val="3B3B3B"/>
                </a:solidFill>
                <a:latin typeface="思源黑体-思源黑体-Medium" pitchFamily="34" charset="0"/>
                <a:ea typeface="思源黑体-思源黑体-Medium" pitchFamily="34" charset="-122"/>
              </a:rPr>
              <a:t>S. </a:t>
            </a:r>
            <a:r>
              <a:rPr lang="en-US" sz="1850" dirty="0" err="1" smtClean="0">
                <a:solidFill>
                  <a:srgbClr val="3B3B3B"/>
                </a:solidFill>
                <a:latin typeface="思源黑体-思源黑体-Medium" pitchFamily="34" charset="0"/>
                <a:ea typeface="思源黑体-思源黑体-Medium" pitchFamily="34" charset="-122"/>
              </a:rPr>
              <a:t>Bhuvana</a:t>
            </a:r>
            <a:r>
              <a:rPr lang="en-US" sz="1850" dirty="0" smtClean="0">
                <a:solidFill>
                  <a:srgbClr val="3B3B3B"/>
                </a:solidFill>
                <a:latin typeface="思源黑体-思源黑体-Medium" pitchFamily="34" charset="0"/>
                <a:ea typeface="思源黑体-思源黑体-Medium" pitchFamily="34" charset="-122"/>
              </a:rPr>
              <a:t> </a:t>
            </a:r>
            <a:r>
              <a:rPr lang="en-US" sz="1850" dirty="0" err="1" smtClean="0">
                <a:solidFill>
                  <a:srgbClr val="3B3B3B"/>
                </a:solidFill>
                <a:latin typeface="思源黑体-思源黑体-Medium" pitchFamily="34" charset="0"/>
                <a:ea typeface="思源黑体-思源黑体-Medium" pitchFamily="34" charset="-122"/>
              </a:rPr>
              <a:t>Satya</a:t>
            </a:r>
            <a:endParaRPr lang="en-US" sz="1850" dirty="0"/>
          </a:p>
        </p:txBody>
      </p:sp>
      <p:sp>
        <p:nvSpPr>
          <p:cNvPr id="12" name="Text 5"/>
          <p:cNvSpPr/>
          <p:nvPr/>
        </p:nvSpPr>
        <p:spPr>
          <a:xfrm>
            <a:off x="4219623" y="4468628"/>
            <a:ext cx="2715768" cy="374904"/>
          </a:xfrm>
          <a:prstGeom prst="rect">
            <a:avLst/>
          </a:prstGeom>
          <a:noFill/>
          <a:ln/>
        </p:spPr>
        <p:txBody>
          <a:bodyPr wrap="none" lIns="0" tIns="0" rIns="0" bIns="0" rtlCol="0" anchor="ctr"/>
          <a:lstStyle/>
          <a:p>
            <a:pPr marL="0" indent="0" algn="ctr">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Track</a:t>
            </a:r>
            <a:endParaRPr lang="en-US" sz="2320" dirty="0"/>
          </a:p>
        </p:txBody>
      </p:sp>
      <p:sp>
        <p:nvSpPr>
          <p:cNvPr id="13" name="Text 6"/>
          <p:cNvSpPr/>
          <p:nvPr/>
        </p:nvSpPr>
        <p:spPr>
          <a:xfrm>
            <a:off x="11032569" y="4468628"/>
            <a:ext cx="2715768" cy="374904"/>
          </a:xfrm>
          <a:prstGeom prst="rect">
            <a:avLst/>
          </a:prstGeom>
          <a:noFill/>
          <a:ln/>
        </p:spPr>
        <p:txBody>
          <a:bodyPr wrap="none" lIns="0" tIns="0" rIns="0" bIns="0" rtlCol="0" anchor="ctr"/>
          <a:lstStyle/>
          <a:p>
            <a:pPr marL="0" indent="0" algn="ctr">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Team Members</a:t>
            </a:r>
            <a:endParaRPr lang="en-US" sz="2320" dirty="0"/>
          </a:p>
        </p:txBody>
      </p:sp>
      <p:sp>
        <p:nvSpPr>
          <p:cNvPr id="14" name="Text 7"/>
          <p:cNvSpPr/>
          <p:nvPr/>
        </p:nvSpPr>
        <p:spPr>
          <a:xfrm>
            <a:off x="7548039" y="4468628"/>
            <a:ext cx="2715768" cy="374904"/>
          </a:xfrm>
          <a:prstGeom prst="rect">
            <a:avLst/>
          </a:prstGeom>
          <a:noFill/>
          <a:ln/>
        </p:spPr>
        <p:txBody>
          <a:bodyPr wrap="none" lIns="0" tIns="0" rIns="0" bIns="0" rtlCol="0" anchor="ctr"/>
          <a:lstStyle/>
          <a:p>
            <a:pPr marL="0" indent="0" algn="ctr">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Team Lead</a:t>
            </a:r>
            <a:endParaRPr lang="en-US" sz="2320" dirty="0"/>
          </a:p>
        </p:txBody>
      </p:sp>
      <p:sp>
        <p:nvSpPr>
          <p:cNvPr id="15" name="Text 8"/>
          <p:cNvSpPr/>
          <p:nvPr/>
        </p:nvSpPr>
        <p:spPr>
          <a:xfrm>
            <a:off x="1055799" y="743339"/>
            <a:ext cx="12984480" cy="1481328"/>
          </a:xfrm>
          <a:prstGeom prst="rect">
            <a:avLst/>
          </a:prstGeom>
          <a:noFill/>
          <a:ln/>
        </p:spPr>
        <p:txBody>
          <a:bodyPr wrap="square" lIns="0" tIns="0" rIns="0" bIns="0" rtlCol="0" anchor="ctr"/>
          <a:lstStyle/>
          <a:p>
            <a:pPr marL="0" indent="0" algn="l">
              <a:lnSpc>
                <a:spcPts val="5800"/>
              </a:lnSpc>
              <a:buNone/>
            </a:pPr>
            <a:r>
              <a:rPr lang="en-US" sz="3800" dirty="0">
                <a:solidFill>
                  <a:schemeClr val="accent5"/>
                </a:solidFill>
                <a:latin typeface="思源黑体-思源黑体-Medium" pitchFamily="34" charset="0"/>
                <a:ea typeface="思源黑体-思源黑体-Medium" pitchFamily="34" charset="-122"/>
                <a:cs typeface="思源黑体-思源黑体-Medium" pitchFamily="34" charset="-120"/>
              </a:rPr>
              <a:t>Smart Sorting Transfer Learning for Identifying Rotten Fruits and Vegetables</a:t>
            </a:r>
            <a:endParaRPr lang="en-US" sz="3800" dirty="0">
              <a:solidFill>
                <a:schemeClr val="accent5"/>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5047488" y="2350008"/>
            <a:ext cx="4544568" cy="4544568"/>
          </a:xfrm>
          <a:prstGeom prst="rect">
            <a:avLst/>
          </a:prstGeom>
        </p:spPr>
      </p:pic>
      <p:pic>
        <p:nvPicPr>
          <p:cNvPr id="4" name="Image 2" descr="preencoded.png"/>
          <p:cNvPicPr>
            <a:picLocks noChangeAspect="1"/>
          </p:cNvPicPr>
          <p:nvPr/>
        </p:nvPicPr>
        <p:blipFill>
          <a:blip r:embed="rId4"/>
          <a:stretch>
            <a:fillRect/>
          </a:stretch>
        </p:blipFill>
        <p:spPr>
          <a:xfrm>
            <a:off x="5047488" y="2350008"/>
            <a:ext cx="4544568" cy="4544568"/>
          </a:xfrm>
          <a:prstGeom prst="rect">
            <a:avLst/>
          </a:prstGeom>
        </p:spPr>
      </p:pic>
      <p:pic>
        <p:nvPicPr>
          <p:cNvPr id="5" name="Image 3" descr="preencoded.png"/>
          <p:cNvPicPr>
            <a:picLocks noChangeAspect="1"/>
          </p:cNvPicPr>
          <p:nvPr/>
        </p:nvPicPr>
        <p:blipFill>
          <a:blip r:embed="rId5"/>
          <a:stretch>
            <a:fillRect/>
          </a:stretch>
        </p:blipFill>
        <p:spPr>
          <a:xfrm>
            <a:off x="5047488" y="2350008"/>
            <a:ext cx="4544568" cy="4544568"/>
          </a:xfrm>
          <a:prstGeom prst="rect">
            <a:avLst/>
          </a:prstGeom>
        </p:spPr>
      </p:pic>
      <p:sp>
        <p:nvSpPr>
          <p:cNvPr id="6" name="Text 0"/>
          <p:cNvSpPr/>
          <p:nvPr/>
        </p:nvSpPr>
        <p:spPr>
          <a:xfrm>
            <a:off x="9710928" y="3419856"/>
            <a:ext cx="3986784" cy="594360"/>
          </a:xfrm>
          <a:prstGeom prst="rect">
            <a:avLst/>
          </a:prstGeom>
          <a:noFill/>
          <a:ln/>
        </p:spPr>
        <p:txBody>
          <a:bodyPr wrap="square" lIns="0" tIns="0" rIns="0" bIns="0" rtlCol="0" anchor="ctr"/>
          <a:lstStyle/>
          <a:p>
            <a:pPr marL="0" indent="0" algn="l">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Ensures only fresh produce reaches customers, minimizing waste.</a:t>
            </a:r>
            <a:endParaRPr lang="en-US" sz="1850" dirty="0"/>
          </a:p>
        </p:txBody>
      </p:sp>
      <p:sp>
        <p:nvSpPr>
          <p:cNvPr id="7" name="Text 1"/>
          <p:cNvSpPr/>
          <p:nvPr/>
        </p:nvSpPr>
        <p:spPr>
          <a:xfrm>
            <a:off x="1177792" y="1184148"/>
            <a:ext cx="12984480" cy="740664"/>
          </a:xfrm>
          <a:prstGeom prst="rect">
            <a:avLst/>
          </a:prstGeom>
          <a:noFill/>
          <a:ln/>
        </p:spPr>
        <p:txBody>
          <a:bodyPr wrap="none" lIns="0" tIns="0" rIns="0" bIns="0" rtlCol="0" anchor="ctr"/>
          <a:lstStyle/>
          <a:p>
            <a:pPr marL="0" indent="0" algn="l">
              <a:lnSpc>
                <a:spcPts val="5800"/>
              </a:lnSpc>
              <a:buNone/>
            </a:pPr>
            <a:r>
              <a:rPr lang="en-US" sz="4640" dirty="0">
                <a:solidFill>
                  <a:schemeClr val="accent5"/>
                </a:solidFill>
                <a:latin typeface="思源黑体-思源黑体-Medium" pitchFamily="34" charset="0"/>
                <a:ea typeface="思源黑体-思源黑体-Medium" pitchFamily="34" charset="-122"/>
                <a:cs typeface="思源黑体-思源黑体-Medium" pitchFamily="34" charset="-120"/>
              </a:rPr>
              <a:t>Project Scenarios</a:t>
            </a:r>
            <a:endParaRPr lang="en-US" sz="4640" dirty="0">
              <a:solidFill>
                <a:schemeClr val="accent5"/>
              </a:solidFill>
            </a:endParaRPr>
          </a:p>
        </p:txBody>
      </p:sp>
      <p:sp>
        <p:nvSpPr>
          <p:cNvPr id="8" name="Text 2"/>
          <p:cNvSpPr/>
          <p:nvPr/>
        </p:nvSpPr>
        <p:spPr>
          <a:xfrm>
            <a:off x="9710928" y="2788920"/>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Fresh Shipment Scanning</a:t>
            </a:r>
            <a:endParaRPr lang="en-US" sz="2320" dirty="0"/>
          </a:p>
        </p:txBody>
      </p:sp>
      <p:sp>
        <p:nvSpPr>
          <p:cNvPr id="9" name="Text 3"/>
          <p:cNvSpPr/>
          <p:nvPr/>
        </p:nvSpPr>
        <p:spPr>
          <a:xfrm>
            <a:off x="950976" y="3858768"/>
            <a:ext cx="3511296" cy="374904"/>
          </a:xfrm>
          <a:prstGeom prst="rect">
            <a:avLst/>
          </a:prstGeom>
          <a:noFill/>
          <a:ln/>
        </p:spPr>
        <p:txBody>
          <a:bodyPr wrap="none" lIns="0" tIns="0" rIns="0" bIns="0" rtlCol="0" anchor="ctr"/>
          <a:lstStyle/>
          <a:p>
            <a:pPr marL="0" indent="0" algn="r">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Automating Sorting</a:t>
            </a:r>
            <a:endParaRPr lang="en-US" sz="2320" dirty="0"/>
          </a:p>
        </p:txBody>
      </p:sp>
      <p:sp>
        <p:nvSpPr>
          <p:cNvPr id="10" name="Text 4"/>
          <p:cNvSpPr/>
          <p:nvPr/>
        </p:nvSpPr>
        <p:spPr>
          <a:xfrm>
            <a:off x="9710928" y="5870448"/>
            <a:ext cx="3986784" cy="594360"/>
          </a:xfrm>
          <a:prstGeom prst="rect">
            <a:avLst/>
          </a:prstGeom>
          <a:noFill/>
          <a:ln/>
        </p:spPr>
        <p:txBody>
          <a:bodyPr wrap="square" lIns="0" tIns="0" rIns="0" bIns="0" rtlCol="0" anchor="ctr"/>
          <a:lstStyle/>
          <a:p>
            <a:pPr marL="0" indent="0" algn="l">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Alerts users about items nearing spoilage, thus reducing food waste.</a:t>
            </a:r>
            <a:endParaRPr lang="en-US" sz="1850" dirty="0"/>
          </a:p>
        </p:txBody>
      </p:sp>
      <p:sp>
        <p:nvSpPr>
          <p:cNvPr id="11" name="Text 5"/>
          <p:cNvSpPr/>
          <p:nvPr/>
        </p:nvSpPr>
        <p:spPr>
          <a:xfrm>
            <a:off x="950976" y="4498848"/>
            <a:ext cx="3511296" cy="886968"/>
          </a:xfrm>
          <a:prstGeom prst="rect">
            <a:avLst/>
          </a:prstGeom>
          <a:noFill/>
          <a:ln/>
        </p:spPr>
        <p:txBody>
          <a:bodyPr wrap="square" lIns="0" tIns="0" rIns="0" bIns="0" rtlCol="0" anchor="ctr"/>
          <a:lstStyle/>
          <a:p>
            <a:pPr marL="0" indent="0" algn="r">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Reduces human error and labor intensity, enhancing efficiency.</a:t>
            </a:r>
            <a:endParaRPr lang="en-US" sz="1850" dirty="0"/>
          </a:p>
        </p:txBody>
      </p:sp>
      <p:sp>
        <p:nvSpPr>
          <p:cNvPr id="12" name="Text 6"/>
          <p:cNvSpPr/>
          <p:nvPr/>
        </p:nvSpPr>
        <p:spPr>
          <a:xfrm>
            <a:off x="9710928" y="5230368"/>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Smart Home Monitoring</a:t>
            </a:r>
            <a:endParaRPr lang="en-US" sz="2320" dirty="0"/>
          </a:p>
        </p:txBody>
      </p:sp>
      <p:sp>
        <p:nvSpPr>
          <p:cNvPr id="13" name="Text 7"/>
          <p:cNvSpPr/>
          <p:nvPr/>
        </p:nvSpPr>
        <p:spPr>
          <a:xfrm>
            <a:off x="7818120" y="5422392"/>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45454"/>
                </a:solidFill>
                <a:latin typeface="思源黑体-思源黑体-Medium" pitchFamily="34" charset="0"/>
                <a:ea typeface="思源黑体-思源黑体-Medium" pitchFamily="34" charset="-122"/>
                <a:cs typeface="思源黑体-思源黑体-Medium" pitchFamily="34" charset="-120"/>
              </a:rPr>
              <a:t>3</a:t>
            </a:r>
            <a:endParaRPr lang="en-US" sz="2320" dirty="0"/>
          </a:p>
        </p:txBody>
      </p:sp>
      <p:sp>
        <p:nvSpPr>
          <p:cNvPr id="14" name="Text 8"/>
          <p:cNvSpPr/>
          <p:nvPr/>
        </p:nvSpPr>
        <p:spPr>
          <a:xfrm>
            <a:off x="6062472" y="4407408"/>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45454"/>
                </a:solidFill>
                <a:latin typeface="思源黑体-思源黑体-Medium" pitchFamily="34" charset="0"/>
                <a:ea typeface="思源黑体-思源黑体-Medium" pitchFamily="34" charset="-122"/>
                <a:cs typeface="思源黑体-思源黑体-Medium" pitchFamily="34" charset="-120"/>
              </a:rPr>
              <a:t>1</a:t>
            </a:r>
            <a:endParaRPr lang="en-US" sz="2320" dirty="0"/>
          </a:p>
        </p:txBody>
      </p:sp>
      <p:sp>
        <p:nvSpPr>
          <p:cNvPr id="15" name="Text 9"/>
          <p:cNvSpPr/>
          <p:nvPr/>
        </p:nvSpPr>
        <p:spPr>
          <a:xfrm>
            <a:off x="7818120" y="3392424"/>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45454"/>
                </a:solidFill>
                <a:latin typeface="思源黑体-思源黑体-Medium" pitchFamily="34" charset="0"/>
                <a:ea typeface="思源黑体-思源黑体-Medium" pitchFamily="34" charset="-122"/>
                <a:cs typeface="思源黑体-思源黑体-Medium" pitchFamily="34" charset="-120"/>
              </a:rPr>
              <a:t>2</a:t>
            </a:r>
            <a:endParaRPr lang="en-US" sz="2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3529584" y="3346704"/>
            <a:ext cx="914400" cy="1216152"/>
          </a:xfrm>
          <a:prstGeom prst="rect">
            <a:avLst/>
          </a:prstGeom>
        </p:spPr>
      </p:pic>
      <p:pic>
        <p:nvPicPr>
          <p:cNvPr id="4" name="Image 2" descr="preencoded.png"/>
          <p:cNvPicPr>
            <a:picLocks noChangeAspect="1"/>
          </p:cNvPicPr>
          <p:nvPr/>
        </p:nvPicPr>
        <p:blipFill>
          <a:blip r:embed="rId4"/>
          <a:stretch>
            <a:fillRect/>
          </a:stretch>
        </p:blipFill>
        <p:spPr>
          <a:xfrm>
            <a:off x="10049256" y="3346704"/>
            <a:ext cx="1216152" cy="1216152"/>
          </a:xfrm>
          <a:prstGeom prst="rect">
            <a:avLst/>
          </a:prstGeom>
        </p:spPr>
      </p:pic>
      <p:sp>
        <p:nvSpPr>
          <p:cNvPr id="5" name="Text 0"/>
          <p:cNvSpPr/>
          <p:nvPr/>
        </p:nvSpPr>
        <p:spPr>
          <a:xfrm>
            <a:off x="960120" y="4791456"/>
            <a:ext cx="6053328" cy="374904"/>
          </a:xfrm>
          <a:prstGeom prst="rect">
            <a:avLst/>
          </a:prstGeom>
          <a:noFill/>
          <a:ln/>
        </p:spPr>
        <p:txBody>
          <a:bodyPr wrap="none" lIns="0" tIns="0" rIns="0" bIns="0" rtlCol="0" anchor="ctr"/>
          <a:lstStyle/>
          <a:p>
            <a:pPr marL="0" indent="0" algn="ctr">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Architecture</a:t>
            </a:r>
            <a:endParaRPr lang="en-US" sz="2320" dirty="0"/>
          </a:p>
        </p:txBody>
      </p:sp>
      <p:sp>
        <p:nvSpPr>
          <p:cNvPr id="6" name="Text 1"/>
          <p:cNvSpPr/>
          <p:nvPr/>
        </p:nvSpPr>
        <p:spPr>
          <a:xfrm>
            <a:off x="1278153" y="1198087"/>
            <a:ext cx="12984480" cy="740664"/>
          </a:xfrm>
          <a:prstGeom prst="rect">
            <a:avLst/>
          </a:prstGeom>
          <a:noFill/>
          <a:ln/>
        </p:spPr>
        <p:txBody>
          <a:bodyPr wrap="none" lIns="0" tIns="0" rIns="0" bIns="0" rtlCol="0" anchor="ctr"/>
          <a:lstStyle/>
          <a:p>
            <a:pPr marL="0" indent="0" algn="l">
              <a:lnSpc>
                <a:spcPts val="5800"/>
              </a:lnSpc>
              <a:buNone/>
            </a:pPr>
            <a:r>
              <a:rPr lang="en-US" sz="4640" dirty="0">
                <a:solidFill>
                  <a:schemeClr val="accent5"/>
                </a:solidFill>
                <a:latin typeface="思源黑体-思源黑体-Medium" pitchFamily="34" charset="0"/>
                <a:ea typeface="思源黑体-思源黑体-Medium" pitchFamily="34" charset="-122"/>
                <a:cs typeface="思源黑体-思源黑体-Medium" pitchFamily="34" charset="-120"/>
              </a:rPr>
              <a:t>Architecture and Prerequisites</a:t>
            </a:r>
            <a:endParaRPr lang="en-US" sz="4640" dirty="0">
              <a:solidFill>
                <a:schemeClr val="accent5"/>
              </a:solidFill>
            </a:endParaRPr>
          </a:p>
        </p:txBody>
      </p:sp>
      <p:sp>
        <p:nvSpPr>
          <p:cNvPr id="7" name="Text 2"/>
          <p:cNvSpPr/>
          <p:nvPr/>
        </p:nvSpPr>
        <p:spPr>
          <a:xfrm>
            <a:off x="7626096" y="5303520"/>
            <a:ext cx="6053328" cy="594360"/>
          </a:xfrm>
          <a:prstGeom prst="rect">
            <a:avLst/>
          </a:prstGeom>
          <a:noFill/>
          <a:ln/>
        </p:spPr>
        <p:txBody>
          <a:bodyPr wrap="square" lIns="0" tIns="0" rIns="0" bIns="0" rtlCol="0" anchor="ctr"/>
          <a:lstStyle/>
          <a:p>
            <a:pPr marL="0" indent="0" algn="ctr">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Users must install Anaconda and several Python packages, including TensorFlow and Flask.</a:t>
            </a:r>
            <a:endParaRPr lang="en-US" sz="1850" dirty="0"/>
          </a:p>
        </p:txBody>
      </p:sp>
      <p:sp>
        <p:nvSpPr>
          <p:cNvPr id="8" name="Text 3"/>
          <p:cNvSpPr/>
          <p:nvPr/>
        </p:nvSpPr>
        <p:spPr>
          <a:xfrm>
            <a:off x="960120" y="5303520"/>
            <a:ext cx="6053328" cy="594360"/>
          </a:xfrm>
          <a:prstGeom prst="rect">
            <a:avLst/>
          </a:prstGeom>
          <a:noFill/>
          <a:ln/>
        </p:spPr>
        <p:txBody>
          <a:bodyPr wrap="square" lIns="0" tIns="0" rIns="0" bIns="0" rtlCol="0" anchor="ctr"/>
          <a:lstStyle/>
          <a:p>
            <a:pPr marL="0" indent="0" algn="ctr">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The system integrates a model with a Flask application for image analysis.</a:t>
            </a:r>
            <a:endParaRPr lang="en-US" sz="1850" dirty="0"/>
          </a:p>
        </p:txBody>
      </p:sp>
      <p:sp>
        <p:nvSpPr>
          <p:cNvPr id="9" name="Text 4"/>
          <p:cNvSpPr/>
          <p:nvPr/>
        </p:nvSpPr>
        <p:spPr>
          <a:xfrm>
            <a:off x="7626096" y="4791456"/>
            <a:ext cx="6053328" cy="374904"/>
          </a:xfrm>
          <a:prstGeom prst="rect">
            <a:avLst/>
          </a:prstGeom>
          <a:noFill/>
          <a:ln/>
        </p:spPr>
        <p:txBody>
          <a:bodyPr wrap="none" lIns="0" tIns="0" rIns="0" bIns="0" rtlCol="0" anchor="ctr"/>
          <a:lstStyle/>
          <a:p>
            <a:pPr marL="0" indent="0" algn="ctr">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Prerequisites</a:t>
            </a:r>
            <a:endParaRPr lang="en-US" sz="2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0" y="0"/>
            <a:ext cx="14630400" cy="2807208"/>
          </a:xfrm>
          <a:prstGeom prst="rect">
            <a:avLst/>
          </a:prstGeom>
        </p:spPr>
      </p:pic>
      <p:pic>
        <p:nvPicPr>
          <p:cNvPr id="4" name="Image 2" descr="preencoded.png"/>
          <p:cNvPicPr>
            <a:picLocks noChangeAspect="1"/>
          </p:cNvPicPr>
          <p:nvPr/>
        </p:nvPicPr>
        <p:blipFill>
          <a:blip r:embed="rId4"/>
          <a:stretch>
            <a:fillRect/>
          </a:stretch>
        </p:blipFill>
        <p:spPr>
          <a:xfrm>
            <a:off x="5248656" y="4471416"/>
            <a:ext cx="4142232" cy="1709928"/>
          </a:xfrm>
          <a:prstGeom prst="rect">
            <a:avLst/>
          </a:prstGeom>
        </p:spPr>
      </p:pic>
      <p:pic>
        <p:nvPicPr>
          <p:cNvPr id="5" name="Image 3" descr="preencoded.png"/>
          <p:cNvPicPr>
            <a:picLocks noChangeAspect="1"/>
          </p:cNvPicPr>
          <p:nvPr/>
        </p:nvPicPr>
        <p:blipFill>
          <a:blip r:embed="rId4"/>
          <a:stretch>
            <a:fillRect/>
          </a:stretch>
        </p:blipFill>
        <p:spPr>
          <a:xfrm>
            <a:off x="841248" y="4471416"/>
            <a:ext cx="4142232" cy="1709928"/>
          </a:xfrm>
          <a:prstGeom prst="rect">
            <a:avLst/>
          </a:prstGeom>
        </p:spPr>
      </p:pic>
      <p:pic>
        <p:nvPicPr>
          <p:cNvPr id="6" name="Image 4" descr="preencoded.png"/>
          <p:cNvPicPr>
            <a:picLocks noChangeAspect="1"/>
          </p:cNvPicPr>
          <p:nvPr/>
        </p:nvPicPr>
        <p:blipFill>
          <a:blip r:embed="rId4"/>
          <a:stretch>
            <a:fillRect/>
          </a:stretch>
        </p:blipFill>
        <p:spPr>
          <a:xfrm>
            <a:off x="9656064" y="4471416"/>
            <a:ext cx="4142232" cy="1709928"/>
          </a:xfrm>
          <a:prstGeom prst="rect">
            <a:avLst/>
          </a:prstGeom>
        </p:spPr>
      </p:pic>
      <p:sp>
        <p:nvSpPr>
          <p:cNvPr id="7" name="Text 0"/>
          <p:cNvSpPr/>
          <p:nvPr/>
        </p:nvSpPr>
        <p:spPr>
          <a:xfrm>
            <a:off x="9893808" y="5468112"/>
            <a:ext cx="3675888" cy="594360"/>
          </a:xfrm>
          <a:prstGeom prst="rect">
            <a:avLst/>
          </a:prstGeom>
          <a:noFill/>
          <a:ln/>
        </p:spPr>
        <p:txBody>
          <a:bodyPr wrap="square" lIns="0" tIns="0" rIns="0" bIns="0" rtlCol="0" anchor="ctr"/>
          <a:lstStyle/>
          <a:p>
            <a:pPr marL="0" indent="0" algn="ctr">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Enhance abilities for insights analysis.</a:t>
            </a:r>
            <a:endParaRPr lang="en-US" sz="1850" dirty="0"/>
          </a:p>
        </p:txBody>
      </p:sp>
      <p:sp>
        <p:nvSpPr>
          <p:cNvPr id="8" name="Text 1"/>
          <p:cNvSpPr/>
          <p:nvPr/>
        </p:nvSpPr>
        <p:spPr>
          <a:xfrm>
            <a:off x="1078992" y="5468112"/>
            <a:ext cx="3675888" cy="594360"/>
          </a:xfrm>
          <a:prstGeom prst="rect">
            <a:avLst/>
          </a:prstGeom>
          <a:noFill/>
          <a:ln/>
        </p:spPr>
        <p:txBody>
          <a:bodyPr wrap="square" lIns="0" tIns="0" rIns="0" bIns="0" rtlCol="0" anchor="ctr"/>
          <a:lstStyle/>
          <a:p>
            <a:pPr marL="0" indent="0" algn="ctr">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Grasp fundamental concepts and techniques.</a:t>
            </a:r>
            <a:endParaRPr lang="en-US" sz="1850" dirty="0"/>
          </a:p>
        </p:txBody>
      </p:sp>
      <p:sp>
        <p:nvSpPr>
          <p:cNvPr id="9" name="Text 2"/>
          <p:cNvSpPr/>
          <p:nvPr/>
        </p:nvSpPr>
        <p:spPr>
          <a:xfrm>
            <a:off x="9893808" y="4590288"/>
            <a:ext cx="3675888" cy="740664"/>
          </a:xfrm>
          <a:prstGeom prst="rect">
            <a:avLst/>
          </a:prstGeom>
          <a:noFill/>
          <a:ln/>
        </p:spPr>
        <p:txBody>
          <a:bodyPr wrap="square" lIns="0" tIns="0" rIns="0" bIns="0" rtlCol="0" anchor="ctr"/>
          <a:lstStyle/>
          <a:p>
            <a:pPr marL="0" indent="0" algn="ctr">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Develop Data Visualization Skills</a:t>
            </a:r>
            <a:endParaRPr lang="en-US" sz="2320" dirty="0"/>
          </a:p>
        </p:txBody>
      </p:sp>
      <p:sp>
        <p:nvSpPr>
          <p:cNvPr id="10" name="Text 3"/>
          <p:cNvSpPr/>
          <p:nvPr/>
        </p:nvSpPr>
        <p:spPr>
          <a:xfrm>
            <a:off x="1078992" y="4590288"/>
            <a:ext cx="3675888" cy="740664"/>
          </a:xfrm>
          <a:prstGeom prst="rect">
            <a:avLst/>
          </a:prstGeom>
          <a:noFill/>
          <a:ln/>
        </p:spPr>
        <p:txBody>
          <a:bodyPr wrap="square" lIns="0" tIns="0" rIns="0" bIns="0" rtlCol="0" anchor="ctr"/>
          <a:lstStyle/>
          <a:p>
            <a:pPr marL="0" indent="0" algn="ctr">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Understand Deep Learning</a:t>
            </a:r>
            <a:endParaRPr lang="en-US" sz="2320" dirty="0"/>
          </a:p>
        </p:txBody>
      </p:sp>
      <p:sp>
        <p:nvSpPr>
          <p:cNvPr id="11" name="Text 4"/>
          <p:cNvSpPr/>
          <p:nvPr/>
        </p:nvSpPr>
        <p:spPr>
          <a:xfrm>
            <a:off x="832104" y="3456432"/>
            <a:ext cx="12984480" cy="740664"/>
          </a:xfrm>
          <a:prstGeom prst="rect">
            <a:avLst/>
          </a:prstGeom>
          <a:noFill/>
          <a:ln/>
        </p:spPr>
        <p:txBody>
          <a:bodyPr wrap="none" lIns="0" tIns="0" rIns="0" bIns="0" rtlCol="0" anchor="ctr"/>
          <a:lstStyle/>
          <a:p>
            <a:pPr marL="0" indent="0" algn="l">
              <a:lnSpc>
                <a:spcPts val="5800"/>
              </a:lnSpc>
              <a:buNone/>
            </a:pPr>
            <a:r>
              <a:rPr lang="en-US" sz="4640" dirty="0">
                <a:solidFill>
                  <a:schemeClr val="accent5"/>
                </a:solidFill>
                <a:latin typeface="思源黑体-思源黑体-Medium" pitchFamily="34" charset="0"/>
                <a:ea typeface="思源黑体-思源黑体-Medium" pitchFamily="34" charset="-122"/>
                <a:cs typeface="思源黑体-思源黑体-Medium" pitchFamily="34" charset="-120"/>
              </a:rPr>
              <a:t>Project Objectives</a:t>
            </a:r>
            <a:endParaRPr lang="en-US" sz="4640" dirty="0">
              <a:solidFill>
                <a:schemeClr val="accent5"/>
              </a:solidFill>
            </a:endParaRPr>
          </a:p>
        </p:txBody>
      </p:sp>
      <p:sp>
        <p:nvSpPr>
          <p:cNvPr id="12" name="Text 5"/>
          <p:cNvSpPr/>
          <p:nvPr/>
        </p:nvSpPr>
        <p:spPr>
          <a:xfrm>
            <a:off x="5486400" y="4590288"/>
            <a:ext cx="3675888" cy="740664"/>
          </a:xfrm>
          <a:prstGeom prst="rect">
            <a:avLst/>
          </a:prstGeom>
          <a:noFill/>
          <a:ln/>
        </p:spPr>
        <p:txBody>
          <a:bodyPr wrap="square" lIns="0" tIns="0" rIns="0" bIns="0" rtlCol="0" anchor="ctr"/>
          <a:lstStyle/>
          <a:p>
            <a:pPr marL="0" indent="0" algn="ctr">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Data Preprocessing Knowledge</a:t>
            </a:r>
            <a:endParaRPr lang="en-US" sz="2320" dirty="0"/>
          </a:p>
        </p:txBody>
      </p:sp>
      <p:sp>
        <p:nvSpPr>
          <p:cNvPr id="13" name="Text 6"/>
          <p:cNvSpPr/>
          <p:nvPr/>
        </p:nvSpPr>
        <p:spPr>
          <a:xfrm>
            <a:off x="5486400" y="5468112"/>
            <a:ext cx="3675888" cy="594360"/>
          </a:xfrm>
          <a:prstGeom prst="rect">
            <a:avLst/>
          </a:prstGeom>
          <a:noFill/>
          <a:ln/>
        </p:spPr>
        <p:txBody>
          <a:bodyPr wrap="square" lIns="0" tIns="0" rIns="0" bIns="0" rtlCol="0" anchor="ctr"/>
          <a:lstStyle/>
          <a:p>
            <a:pPr marL="0" indent="0" algn="ctr">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Learn data transformation techniques.</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5175504" y="3172968"/>
            <a:ext cx="4297680" cy="950976"/>
          </a:xfrm>
          <a:prstGeom prst="rect">
            <a:avLst/>
          </a:prstGeom>
        </p:spPr>
      </p:pic>
      <p:pic>
        <p:nvPicPr>
          <p:cNvPr id="5" name="Image 3" descr="preencoded.png"/>
          <p:cNvPicPr>
            <a:picLocks noChangeAspect="1"/>
          </p:cNvPicPr>
          <p:nvPr/>
        </p:nvPicPr>
        <p:blipFill>
          <a:blip r:embed="rId4"/>
          <a:stretch>
            <a:fillRect/>
          </a:stretch>
        </p:blipFill>
        <p:spPr>
          <a:xfrm>
            <a:off x="9500616" y="3172968"/>
            <a:ext cx="4297680" cy="950976"/>
          </a:xfrm>
          <a:prstGeom prst="rect">
            <a:avLst/>
          </a:prstGeom>
        </p:spPr>
      </p:pic>
      <p:pic>
        <p:nvPicPr>
          <p:cNvPr id="6" name="Image 4" descr="preencoded.png"/>
          <p:cNvPicPr>
            <a:picLocks noChangeAspect="1"/>
          </p:cNvPicPr>
          <p:nvPr/>
        </p:nvPicPr>
        <p:blipFill>
          <a:blip r:embed="rId3"/>
          <a:stretch>
            <a:fillRect/>
          </a:stretch>
        </p:blipFill>
        <p:spPr>
          <a:xfrm>
            <a:off x="841248" y="3172968"/>
            <a:ext cx="4297680" cy="950976"/>
          </a:xfrm>
          <a:prstGeom prst="rect">
            <a:avLst/>
          </a:prstGeom>
        </p:spPr>
      </p:pic>
      <p:sp>
        <p:nvSpPr>
          <p:cNvPr id="7" name="Text 0"/>
          <p:cNvSpPr/>
          <p:nvPr/>
        </p:nvSpPr>
        <p:spPr>
          <a:xfrm>
            <a:off x="9729216" y="4983480"/>
            <a:ext cx="3831336" cy="594360"/>
          </a:xfrm>
          <a:prstGeom prst="rect">
            <a:avLst/>
          </a:prstGeom>
          <a:noFill/>
          <a:ln/>
        </p:spPr>
        <p:txBody>
          <a:bodyPr wrap="square" lIns="0" tIns="0" rIns="0" bIns="0" rtlCol="0" anchor="ctr"/>
          <a:lstStyle/>
          <a:p>
            <a:pPr marL="0" indent="0" algn="ctr">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The results are displayed on the UI for the user to see.</a:t>
            </a:r>
            <a:endParaRPr lang="en-US" sz="1850" dirty="0"/>
          </a:p>
        </p:txBody>
      </p:sp>
      <p:sp>
        <p:nvSpPr>
          <p:cNvPr id="8" name="Text 1"/>
          <p:cNvSpPr/>
          <p:nvPr/>
        </p:nvSpPr>
        <p:spPr>
          <a:xfrm>
            <a:off x="7232904" y="3429000"/>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545454"/>
                </a:solidFill>
                <a:latin typeface="思源黑体-思源黑体-Medium" pitchFamily="34" charset="0"/>
                <a:ea typeface="思源黑体-思源黑体-Medium" pitchFamily="34" charset="-122"/>
                <a:cs typeface="思源黑体-思源黑体-Medium" pitchFamily="34" charset="-120"/>
              </a:rPr>
              <a:t>2</a:t>
            </a:r>
            <a:endParaRPr lang="en-US" sz="2320" dirty="0"/>
          </a:p>
        </p:txBody>
      </p:sp>
      <p:sp>
        <p:nvSpPr>
          <p:cNvPr id="9" name="Text 2"/>
          <p:cNvSpPr/>
          <p:nvPr/>
        </p:nvSpPr>
        <p:spPr>
          <a:xfrm>
            <a:off x="5404104" y="4983480"/>
            <a:ext cx="3831336" cy="594360"/>
          </a:xfrm>
          <a:prstGeom prst="rect">
            <a:avLst/>
          </a:prstGeom>
          <a:noFill/>
          <a:ln/>
        </p:spPr>
        <p:txBody>
          <a:bodyPr wrap="square" lIns="0" tIns="0" rIns="0" bIns="0" rtlCol="0" anchor="ctr"/>
          <a:lstStyle/>
          <a:p>
            <a:pPr marL="0" indent="0" algn="ctr">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The model processes the selected image and predicts the outcome.</a:t>
            </a:r>
            <a:endParaRPr lang="en-US" sz="1850" dirty="0"/>
          </a:p>
        </p:txBody>
      </p:sp>
      <p:sp>
        <p:nvSpPr>
          <p:cNvPr id="10" name="Text 3"/>
          <p:cNvSpPr/>
          <p:nvPr/>
        </p:nvSpPr>
        <p:spPr>
          <a:xfrm>
            <a:off x="11558016" y="3429000"/>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545454"/>
                </a:solidFill>
                <a:latin typeface="思源黑体-思源黑体-Medium" pitchFamily="34" charset="0"/>
                <a:ea typeface="思源黑体-思源黑体-Medium" pitchFamily="34" charset="-122"/>
                <a:cs typeface="思源黑体-思源黑体-Medium" pitchFamily="34" charset="-120"/>
              </a:rPr>
              <a:t>3</a:t>
            </a:r>
            <a:endParaRPr lang="en-US" sz="2320" dirty="0"/>
          </a:p>
        </p:txBody>
      </p:sp>
      <p:sp>
        <p:nvSpPr>
          <p:cNvPr id="11" name="Text 4"/>
          <p:cNvSpPr/>
          <p:nvPr/>
        </p:nvSpPr>
        <p:spPr>
          <a:xfrm>
            <a:off x="9729216" y="4471416"/>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Results Display</a:t>
            </a:r>
            <a:endParaRPr lang="en-US" sz="2320" dirty="0"/>
          </a:p>
        </p:txBody>
      </p:sp>
      <p:sp>
        <p:nvSpPr>
          <p:cNvPr id="12" name="Text 5"/>
          <p:cNvSpPr/>
          <p:nvPr/>
        </p:nvSpPr>
        <p:spPr>
          <a:xfrm>
            <a:off x="1078992" y="4983480"/>
            <a:ext cx="3831336" cy="594360"/>
          </a:xfrm>
          <a:prstGeom prst="rect">
            <a:avLst/>
          </a:prstGeom>
          <a:noFill/>
          <a:ln/>
        </p:spPr>
        <p:txBody>
          <a:bodyPr wrap="square" lIns="0" tIns="0" rIns="0" bIns="0" rtlCol="0" anchor="ctr"/>
          <a:lstStyle/>
          <a:p>
            <a:pPr marL="0" indent="0" algn="ctr">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The user selects an image through the UI.</a:t>
            </a:r>
            <a:endParaRPr lang="en-US" sz="1850" dirty="0"/>
          </a:p>
        </p:txBody>
      </p:sp>
      <p:sp>
        <p:nvSpPr>
          <p:cNvPr id="13" name="Text 6"/>
          <p:cNvSpPr/>
          <p:nvPr/>
        </p:nvSpPr>
        <p:spPr>
          <a:xfrm>
            <a:off x="2907792" y="3429000"/>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545454"/>
                </a:solidFill>
                <a:latin typeface="思源黑体-思源黑体-Medium" pitchFamily="34" charset="0"/>
                <a:ea typeface="思源黑体-思源黑体-Medium" pitchFamily="34" charset="-122"/>
                <a:cs typeface="思源黑体-思源黑体-Medium" pitchFamily="34" charset="-120"/>
              </a:rPr>
              <a:t>1</a:t>
            </a:r>
            <a:endParaRPr lang="en-US" sz="2320" dirty="0"/>
          </a:p>
        </p:txBody>
      </p:sp>
      <p:sp>
        <p:nvSpPr>
          <p:cNvPr id="14" name="Text 7"/>
          <p:cNvSpPr/>
          <p:nvPr/>
        </p:nvSpPr>
        <p:spPr>
          <a:xfrm>
            <a:off x="5404104" y="4471416"/>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Model Processing</a:t>
            </a:r>
            <a:endParaRPr lang="en-US" sz="2320" dirty="0"/>
          </a:p>
        </p:txBody>
      </p:sp>
      <p:sp>
        <p:nvSpPr>
          <p:cNvPr id="15" name="Text 8"/>
          <p:cNvSpPr/>
          <p:nvPr/>
        </p:nvSpPr>
        <p:spPr>
          <a:xfrm>
            <a:off x="1078992" y="4471416"/>
            <a:ext cx="3831336" cy="374904"/>
          </a:xfrm>
          <a:prstGeom prst="rect">
            <a:avLst/>
          </a:prstGeom>
          <a:noFill/>
          <a:ln/>
        </p:spPr>
        <p:txBody>
          <a:bodyPr wrap="none" lIns="0" tIns="0" rIns="0" bIns="0" rtlCol="0" anchor="ctr"/>
          <a:lstStyle/>
          <a:p>
            <a:pPr marL="0" indent="0" algn="ctr">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User Image Selection</a:t>
            </a:r>
            <a:endParaRPr lang="en-US" sz="2320" dirty="0"/>
          </a:p>
        </p:txBody>
      </p:sp>
      <p:sp>
        <p:nvSpPr>
          <p:cNvPr id="16" name="Text 9"/>
          <p:cNvSpPr/>
          <p:nvPr/>
        </p:nvSpPr>
        <p:spPr>
          <a:xfrm>
            <a:off x="1289304" y="1210130"/>
            <a:ext cx="12984480" cy="740664"/>
          </a:xfrm>
          <a:prstGeom prst="rect">
            <a:avLst/>
          </a:prstGeom>
          <a:noFill/>
          <a:ln/>
        </p:spPr>
        <p:txBody>
          <a:bodyPr wrap="none" lIns="0" tIns="0" rIns="0" bIns="0" rtlCol="0" anchor="ctr"/>
          <a:lstStyle/>
          <a:p>
            <a:pPr marL="0" indent="0" algn="l">
              <a:lnSpc>
                <a:spcPts val="5800"/>
              </a:lnSpc>
              <a:buNone/>
            </a:pPr>
            <a:r>
              <a:rPr lang="en-US" sz="4640" dirty="0">
                <a:solidFill>
                  <a:schemeClr val="accent5"/>
                </a:solidFill>
                <a:latin typeface="思源黑体-思源黑体-Medium" pitchFamily="34" charset="0"/>
                <a:ea typeface="思源黑体-思源黑体-Medium" pitchFamily="34" charset="-122"/>
                <a:cs typeface="思源黑体-思源黑体-Medium" pitchFamily="34" charset="-120"/>
              </a:rPr>
              <a:t>Project Flow</a:t>
            </a:r>
            <a:endParaRPr lang="en-US" sz="4640" dirty="0">
              <a:solidFill>
                <a:schemeClr val="accent5"/>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050" name="Picture 2" descr="Free Automated Fruit Sorting Image - Robotic, Fruit, Sorting | Download at  StockCak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3600" y="-77002"/>
            <a:ext cx="4876800" cy="8306601"/>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2" descr="preencoded.png"/>
          <p:cNvPicPr>
            <a:picLocks noChangeAspect="1"/>
          </p:cNvPicPr>
          <p:nvPr/>
        </p:nvPicPr>
        <p:blipFill>
          <a:blip r:embed="rId4"/>
          <a:stretch>
            <a:fillRect/>
          </a:stretch>
        </p:blipFill>
        <p:spPr>
          <a:xfrm>
            <a:off x="841248" y="4407408"/>
            <a:ext cx="475488" cy="475488"/>
          </a:xfrm>
          <a:prstGeom prst="rect">
            <a:avLst/>
          </a:prstGeom>
        </p:spPr>
      </p:pic>
      <p:pic>
        <p:nvPicPr>
          <p:cNvPr id="5" name="Image 3" descr="preencoded.png"/>
          <p:cNvPicPr>
            <a:picLocks noChangeAspect="1"/>
          </p:cNvPicPr>
          <p:nvPr/>
        </p:nvPicPr>
        <p:blipFill>
          <a:blip r:embed="rId4"/>
          <a:stretch>
            <a:fillRect/>
          </a:stretch>
        </p:blipFill>
        <p:spPr>
          <a:xfrm>
            <a:off x="841248" y="6099048"/>
            <a:ext cx="475488" cy="475488"/>
          </a:xfrm>
          <a:prstGeom prst="rect">
            <a:avLst/>
          </a:prstGeom>
        </p:spPr>
      </p:pic>
      <p:pic>
        <p:nvPicPr>
          <p:cNvPr id="6" name="Image 4" descr="preencoded.png"/>
          <p:cNvPicPr>
            <a:picLocks noChangeAspect="1"/>
          </p:cNvPicPr>
          <p:nvPr/>
        </p:nvPicPr>
        <p:blipFill>
          <a:blip r:embed="rId4"/>
          <a:stretch>
            <a:fillRect/>
          </a:stretch>
        </p:blipFill>
        <p:spPr>
          <a:xfrm>
            <a:off x="841248" y="2724912"/>
            <a:ext cx="475488" cy="475488"/>
          </a:xfrm>
          <a:prstGeom prst="rect">
            <a:avLst/>
          </a:prstGeom>
        </p:spPr>
      </p:pic>
      <p:sp>
        <p:nvSpPr>
          <p:cNvPr id="7" name="Text 0"/>
          <p:cNvSpPr/>
          <p:nvPr/>
        </p:nvSpPr>
        <p:spPr>
          <a:xfrm>
            <a:off x="1170432" y="685800"/>
            <a:ext cx="8010144" cy="1481328"/>
          </a:xfrm>
          <a:prstGeom prst="rect">
            <a:avLst/>
          </a:prstGeom>
          <a:noFill/>
          <a:ln/>
        </p:spPr>
        <p:txBody>
          <a:bodyPr wrap="square" lIns="0" tIns="0" rIns="0" bIns="0" rtlCol="0" anchor="ctr"/>
          <a:lstStyle/>
          <a:p>
            <a:pPr marL="0" indent="0" algn="l">
              <a:lnSpc>
                <a:spcPts val="5800"/>
              </a:lnSpc>
              <a:buNone/>
            </a:pPr>
            <a:r>
              <a:rPr lang="en-US" sz="3800" dirty="0">
                <a:solidFill>
                  <a:schemeClr val="accent5"/>
                </a:solidFill>
                <a:latin typeface="思源黑体-思源黑体-Medium" pitchFamily="34" charset="0"/>
                <a:ea typeface="思源黑体-思源黑体-Medium" pitchFamily="34" charset="-122"/>
                <a:cs typeface="思源黑体-思源黑体-Medium" pitchFamily="34" charset="-120"/>
              </a:rPr>
              <a:t>Data Collection and Preparation</a:t>
            </a:r>
            <a:endParaRPr lang="en-US" sz="3800" dirty="0">
              <a:solidFill>
                <a:schemeClr val="accent5"/>
              </a:solidFill>
            </a:endParaRPr>
          </a:p>
        </p:txBody>
      </p:sp>
      <p:sp>
        <p:nvSpPr>
          <p:cNvPr id="8" name="Text 1"/>
          <p:cNvSpPr/>
          <p:nvPr/>
        </p:nvSpPr>
        <p:spPr>
          <a:xfrm>
            <a:off x="996696" y="4434840"/>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545454"/>
                </a:solidFill>
                <a:latin typeface="思源黑体-思源黑体-Medium" pitchFamily="34" charset="0"/>
                <a:ea typeface="思源黑体-思源黑体-Medium" pitchFamily="34" charset="-122"/>
                <a:cs typeface="思源黑体-思源黑体-Medium" pitchFamily="34" charset="-120"/>
              </a:rPr>
              <a:t>2</a:t>
            </a:r>
            <a:endParaRPr lang="en-US" sz="2320" dirty="0"/>
          </a:p>
        </p:txBody>
      </p:sp>
      <p:sp>
        <p:nvSpPr>
          <p:cNvPr id="9" name="Text 2"/>
          <p:cNvSpPr/>
          <p:nvPr/>
        </p:nvSpPr>
        <p:spPr>
          <a:xfrm>
            <a:off x="1609344" y="4946904"/>
            <a:ext cx="7214616" cy="594360"/>
          </a:xfrm>
          <a:prstGeom prst="rect">
            <a:avLst/>
          </a:prstGeom>
          <a:noFill/>
          <a:ln/>
        </p:spPr>
        <p:txBody>
          <a:bodyPr wrap="square" lIns="0" tIns="0" rIns="0" bIns="0" rtlCol="0" anchor="ctr"/>
          <a:lstStyle/>
          <a:p>
            <a:pPr marL="0" indent="0" algn="l">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Techniques are employed to visualize and analyze the dataset for better understanding.</a:t>
            </a:r>
            <a:endParaRPr lang="en-US" sz="1850" dirty="0"/>
          </a:p>
        </p:txBody>
      </p:sp>
      <p:sp>
        <p:nvSpPr>
          <p:cNvPr id="10" name="Text 3"/>
          <p:cNvSpPr/>
          <p:nvPr/>
        </p:nvSpPr>
        <p:spPr>
          <a:xfrm>
            <a:off x="1609344" y="2752344"/>
            <a:ext cx="7214616" cy="374904"/>
          </a:xfrm>
          <a:prstGeom prst="rect">
            <a:avLst/>
          </a:prstGeom>
          <a:noFill/>
          <a:ln/>
        </p:spPr>
        <p:txBody>
          <a:bodyPr wrap="none" lIns="0" tIns="0" rIns="0" bIns="0" rtlCol="0" anchor="ctr"/>
          <a:lstStyle/>
          <a:p>
            <a:pPr marL="0" indent="0" algn="l">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Dataset</a:t>
            </a:r>
            <a:endParaRPr lang="en-US" sz="2320" dirty="0"/>
          </a:p>
        </p:txBody>
      </p:sp>
      <p:sp>
        <p:nvSpPr>
          <p:cNvPr id="11" name="Text 4"/>
          <p:cNvSpPr/>
          <p:nvPr/>
        </p:nvSpPr>
        <p:spPr>
          <a:xfrm>
            <a:off x="1609344" y="6135624"/>
            <a:ext cx="7214616" cy="374904"/>
          </a:xfrm>
          <a:prstGeom prst="rect">
            <a:avLst/>
          </a:prstGeom>
          <a:noFill/>
          <a:ln/>
        </p:spPr>
        <p:txBody>
          <a:bodyPr wrap="none" lIns="0" tIns="0" rIns="0" bIns="0" rtlCol="0" anchor="ctr"/>
          <a:lstStyle/>
          <a:p>
            <a:pPr marL="0" indent="0" algn="l">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Data Augmentation</a:t>
            </a:r>
            <a:endParaRPr lang="en-US" sz="2320" dirty="0"/>
          </a:p>
        </p:txBody>
      </p:sp>
      <p:sp>
        <p:nvSpPr>
          <p:cNvPr id="12" name="Text 5"/>
          <p:cNvSpPr/>
          <p:nvPr/>
        </p:nvSpPr>
        <p:spPr>
          <a:xfrm>
            <a:off x="996696" y="6117336"/>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545454"/>
                </a:solidFill>
                <a:latin typeface="思源黑体-思源黑体-Medium" pitchFamily="34" charset="0"/>
                <a:ea typeface="思源黑体-思源黑体-Medium" pitchFamily="34" charset="-122"/>
                <a:cs typeface="思源黑体-思源黑体-Medium" pitchFamily="34" charset="-120"/>
              </a:rPr>
              <a:t>3</a:t>
            </a:r>
            <a:endParaRPr lang="en-US" sz="2320" dirty="0"/>
          </a:p>
        </p:txBody>
      </p:sp>
      <p:sp>
        <p:nvSpPr>
          <p:cNvPr id="13" name="Text 6"/>
          <p:cNvSpPr/>
          <p:nvPr/>
        </p:nvSpPr>
        <p:spPr>
          <a:xfrm>
            <a:off x="1609344" y="4443984"/>
            <a:ext cx="7214616" cy="374904"/>
          </a:xfrm>
          <a:prstGeom prst="rect">
            <a:avLst/>
          </a:prstGeom>
          <a:noFill/>
          <a:ln/>
        </p:spPr>
        <p:txBody>
          <a:bodyPr wrap="none" lIns="0" tIns="0" rIns="0" bIns="0" rtlCol="0" anchor="ctr"/>
          <a:lstStyle/>
          <a:p>
            <a:pPr marL="0" indent="0" algn="l">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Data Visualization</a:t>
            </a:r>
            <a:endParaRPr lang="en-US" sz="2320" dirty="0"/>
          </a:p>
        </p:txBody>
      </p:sp>
      <p:sp>
        <p:nvSpPr>
          <p:cNvPr id="14" name="Text 7"/>
          <p:cNvSpPr/>
          <p:nvPr/>
        </p:nvSpPr>
        <p:spPr>
          <a:xfrm>
            <a:off x="996696" y="2743200"/>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545454"/>
                </a:solidFill>
                <a:latin typeface="思源黑体-思源黑体-Medium" pitchFamily="34" charset="0"/>
                <a:ea typeface="思源黑体-思源黑体-Medium" pitchFamily="34" charset="-122"/>
                <a:cs typeface="思源黑体-思源黑体-Medium" pitchFamily="34" charset="-120"/>
              </a:rPr>
              <a:t>1</a:t>
            </a:r>
            <a:endParaRPr lang="en-US" sz="2320" dirty="0"/>
          </a:p>
        </p:txBody>
      </p:sp>
      <p:sp>
        <p:nvSpPr>
          <p:cNvPr id="15" name="Text 8"/>
          <p:cNvSpPr/>
          <p:nvPr/>
        </p:nvSpPr>
        <p:spPr>
          <a:xfrm>
            <a:off x="1609344" y="3264408"/>
            <a:ext cx="7214616" cy="594360"/>
          </a:xfrm>
          <a:prstGeom prst="rect">
            <a:avLst/>
          </a:prstGeom>
          <a:noFill/>
          <a:ln/>
        </p:spPr>
        <p:txBody>
          <a:bodyPr wrap="square" lIns="0" tIns="0" rIns="0" bIns="0" rtlCol="0" anchor="ctr"/>
          <a:lstStyle/>
          <a:p>
            <a:pPr marL="0" indent="0" algn="l">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The project utilizes a dataset of 28 classes of fruits and vegetables sourced from Kaggle.</a:t>
            </a:r>
            <a:endParaRPr lang="en-US" sz="1850" dirty="0"/>
          </a:p>
        </p:txBody>
      </p:sp>
      <p:sp>
        <p:nvSpPr>
          <p:cNvPr id="16" name="Text 9"/>
          <p:cNvSpPr/>
          <p:nvPr/>
        </p:nvSpPr>
        <p:spPr>
          <a:xfrm>
            <a:off x="1609344" y="6638544"/>
            <a:ext cx="7214616" cy="594360"/>
          </a:xfrm>
          <a:prstGeom prst="rect">
            <a:avLst/>
          </a:prstGeom>
          <a:noFill/>
          <a:ln/>
        </p:spPr>
        <p:txBody>
          <a:bodyPr wrap="square" lIns="0" tIns="0" rIns="0" bIns="0" rtlCol="0" anchor="ctr"/>
          <a:lstStyle/>
          <a:p>
            <a:pPr marL="0" indent="0" algn="l">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Various transformations are applied to increase the dataset's diversity, aiding model robustness.</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9656064" y="0"/>
            <a:ext cx="4974336" cy="8238744"/>
          </a:xfrm>
          <a:prstGeom prst="rect">
            <a:avLst/>
          </a:prstGeom>
        </p:spPr>
      </p:pic>
      <p:pic>
        <p:nvPicPr>
          <p:cNvPr id="4" name="Image 2" descr="preencoded.png"/>
          <p:cNvPicPr>
            <a:picLocks noChangeAspect="1"/>
          </p:cNvPicPr>
          <p:nvPr/>
        </p:nvPicPr>
        <p:blipFill>
          <a:blip r:embed="rId4"/>
          <a:stretch>
            <a:fillRect/>
          </a:stretch>
        </p:blipFill>
        <p:spPr>
          <a:xfrm>
            <a:off x="841248" y="2798064"/>
            <a:ext cx="475488" cy="475488"/>
          </a:xfrm>
          <a:prstGeom prst="rect">
            <a:avLst/>
          </a:prstGeom>
        </p:spPr>
      </p:pic>
      <p:pic>
        <p:nvPicPr>
          <p:cNvPr id="5" name="Image 3" descr="preencoded.png"/>
          <p:cNvPicPr>
            <a:picLocks noChangeAspect="1"/>
          </p:cNvPicPr>
          <p:nvPr/>
        </p:nvPicPr>
        <p:blipFill>
          <a:blip r:embed="rId4"/>
          <a:stretch>
            <a:fillRect/>
          </a:stretch>
        </p:blipFill>
        <p:spPr>
          <a:xfrm>
            <a:off x="841248" y="5586984"/>
            <a:ext cx="475488" cy="475488"/>
          </a:xfrm>
          <a:prstGeom prst="rect">
            <a:avLst/>
          </a:prstGeom>
        </p:spPr>
      </p:pic>
      <p:pic>
        <p:nvPicPr>
          <p:cNvPr id="6" name="Image 4" descr="preencoded.png"/>
          <p:cNvPicPr>
            <a:picLocks noChangeAspect="1"/>
          </p:cNvPicPr>
          <p:nvPr/>
        </p:nvPicPr>
        <p:blipFill>
          <a:blip r:embed="rId4"/>
          <a:stretch>
            <a:fillRect/>
          </a:stretch>
        </p:blipFill>
        <p:spPr>
          <a:xfrm>
            <a:off x="841248" y="4187952"/>
            <a:ext cx="475488" cy="475488"/>
          </a:xfrm>
          <a:prstGeom prst="rect">
            <a:avLst/>
          </a:prstGeom>
        </p:spPr>
      </p:pic>
      <p:sp>
        <p:nvSpPr>
          <p:cNvPr id="7" name="Text 0"/>
          <p:cNvSpPr/>
          <p:nvPr/>
        </p:nvSpPr>
        <p:spPr>
          <a:xfrm>
            <a:off x="1078992" y="1133856"/>
            <a:ext cx="8010144" cy="740664"/>
          </a:xfrm>
          <a:prstGeom prst="rect">
            <a:avLst/>
          </a:prstGeom>
          <a:noFill/>
          <a:ln/>
        </p:spPr>
        <p:txBody>
          <a:bodyPr wrap="none" lIns="0" tIns="0" rIns="0" bIns="0" rtlCol="0" anchor="ctr"/>
          <a:lstStyle/>
          <a:p>
            <a:pPr marL="0" indent="0" algn="l">
              <a:lnSpc>
                <a:spcPts val="5800"/>
              </a:lnSpc>
              <a:buNone/>
            </a:pPr>
            <a:r>
              <a:rPr lang="en-US" sz="4640" dirty="0">
                <a:solidFill>
                  <a:schemeClr val="accent5"/>
                </a:solidFill>
                <a:latin typeface="思源黑体-思源黑体-Medium" pitchFamily="34" charset="0"/>
                <a:ea typeface="思源黑体-思源黑体-Medium" pitchFamily="34" charset="-122"/>
                <a:cs typeface="思源黑体-思源黑体-Medium" pitchFamily="34" charset="-120"/>
              </a:rPr>
              <a:t>Application Development</a:t>
            </a:r>
            <a:endParaRPr lang="en-US" sz="4640" dirty="0">
              <a:solidFill>
                <a:schemeClr val="accent5"/>
              </a:solidFill>
            </a:endParaRPr>
          </a:p>
        </p:txBody>
      </p:sp>
      <p:sp>
        <p:nvSpPr>
          <p:cNvPr id="8" name="Text 1"/>
          <p:cNvSpPr/>
          <p:nvPr/>
        </p:nvSpPr>
        <p:spPr>
          <a:xfrm>
            <a:off x="1609344" y="5614416"/>
            <a:ext cx="7214616" cy="374904"/>
          </a:xfrm>
          <a:prstGeom prst="rect">
            <a:avLst/>
          </a:prstGeom>
          <a:noFill/>
          <a:ln/>
        </p:spPr>
        <p:txBody>
          <a:bodyPr wrap="none" lIns="0" tIns="0" rIns="0" bIns="0" rtlCol="0" anchor="ctr"/>
          <a:lstStyle/>
          <a:p>
            <a:pPr marL="0" indent="0" algn="l">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Model Testing</a:t>
            </a:r>
            <a:endParaRPr lang="en-US" sz="2320" dirty="0"/>
          </a:p>
        </p:txBody>
      </p:sp>
      <p:sp>
        <p:nvSpPr>
          <p:cNvPr id="9" name="Text 2"/>
          <p:cNvSpPr/>
          <p:nvPr/>
        </p:nvSpPr>
        <p:spPr>
          <a:xfrm>
            <a:off x="1609344" y="6126480"/>
            <a:ext cx="7214616" cy="301752"/>
          </a:xfrm>
          <a:prstGeom prst="rect">
            <a:avLst/>
          </a:prstGeom>
          <a:noFill/>
          <a:ln/>
        </p:spPr>
        <p:txBody>
          <a:bodyPr wrap="none" lIns="0" tIns="0" rIns="0" bIns="0" rtlCol="0" anchor="ctr"/>
          <a:lstStyle/>
          <a:p>
            <a:pPr marL="0" indent="0" algn="l">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Tests the model's accuracy in identifying produce.</a:t>
            </a:r>
            <a:endParaRPr lang="en-US" sz="1850" dirty="0"/>
          </a:p>
        </p:txBody>
      </p:sp>
      <p:sp>
        <p:nvSpPr>
          <p:cNvPr id="10" name="Text 3"/>
          <p:cNvSpPr/>
          <p:nvPr/>
        </p:nvSpPr>
        <p:spPr>
          <a:xfrm>
            <a:off x="1609344" y="4215384"/>
            <a:ext cx="7214616" cy="374904"/>
          </a:xfrm>
          <a:prstGeom prst="rect">
            <a:avLst/>
          </a:prstGeom>
          <a:noFill/>
          <a:ln/>
        </p:spPr>
        <p:txBody>
          <a:bodyPr wrap="none" lIns="0" tIns="0" rIns="0" bIns="0" rtlCol="0" anchor="ctr"/>
          <a:lstStyle/>
          <a:p>
            <a:pPr marL="0" indent="0" algn="l">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Flask Integration</a:t>
            </a:r>
            <a:endParaRPr lang="en-US" sz="2320" dirty="0"/>
          </a:p>
        </p:txBody>
      </p:sp>
      <p:sp>
        <p:nvSpPr>
          <p:cNvPr id="11" name="Text 4"/>
          <p:cNvSpPr/>
          <p:nvPr/>
        </p:nvSpPr>
        <p:spPr>
          <a:xfrm>
            <a:off x="996696" y="2816352"/>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545454"/>
                </a:solidFill>
                <a:latin typeface="思源黑体-思源黑体-Medium" pitchFamily="34" charset="0"/>
                <a:ea typeface="思源黑体-思源黑体-Medium" pitchFamily="34" charset="-122"/>
                <a:cs typeface="思源黑体-思源黑体-Medium" pitchFamily="34" charset="-120"/>
              </a:rPr>
              <a:t>1</a:t>
            </a:r>
            <a:endParaRPr lang="en-US" sz="2320" dirty="0"/>
          </a:p>
        </p:txBody>
      </p:sp>
      <p:sp>
        <p:nvSpPr>
          <p:cNvPr id="12" name="Text 5"/>
          <p:cNvSpPr/>
          <p:nvPr/>
        </p:nvSpPr>
        <p:spPr>
          <a:xfrm>
            <a:off x="1609344" y="2825496"/>
            <a:ext cx="7214616" cy="374904"/>
          </a:xfrm>
          <a:prstGeom prst="rect">
            <a:avLst/>
          </a:prstGeom>
          <a:noFill/>
          <a:ln/>
        </p:spPr>
        <p:txBody>
          <a:bodyPr wrap="none" lIns="0" tIns="0" rIns="0" bIns="0" rtlCol="0" anchor="ctr"/>
          <a:lstStyle/>
          <a:p>
            <a:pPr marL="0" indent="0" algn="l">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HTML Pages</a:t>
            </a:r>
            <a:endParaRPr lang="en-US" sz="2320" dirty="0"/>
          </a:p>
        </p:txBody>
      </p:sp>
      <p:sp>
        <p:nvSpPr>
          <p:cNvPr id="13" name="Text 6"/>
          <p:cNvSpPr/>
          <p:nvPr/>
        </p:nvSpPr>
        <p:spPr>
          <a:xfrm>
            <a:off x="1609344" y="3337560"/>
            <a:ext cx="7214616" cy="301752"/>
          </a:xfrm>
          <a:prstGeom prst="rect">
            <a:avLst/>
          </a:prstGeom>
          <a:noFill/>
          <a:ln/>
        </p:spPr>
        <p:txBody>
          <a:bodyPr wrap="none" lIns="0" tIns="0" rIns="0" bIns="0" rtlCol="0" anchor="ctr"/>
          <a:lstStyle/>
          <a:p>
            <a:pPr marL="0" indent="0" algn="l">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Three HTML files for user interaction.</a:t>
            </a:r>
            <a:endParaRPr lang="en-US" sz="1850" dirty="0"/>
          </a:p>
        </p:txBody>
      </p:sp>
      <p:sp>
        <p:nvSpPr>
          <p:cNvPr id="14" name="Text 7"/>
          <p:cNvSpPr/>
          <p:nvPr/>
        </p:nvSpPr>
        <p:spPr>
          <a:xfrm>
            <a:off x="1609344" y="4727448"/>
            <a:ext cx="7214616" cy="301752"/>
          </a:xfrm>
          <a:prstGeom prst="rect">
            <a:avLst/>
          </a:prstGeom>
          <a:noFill/>
          <a:ln/>
        </p:spPr>
        <p:txBody>
          <a:bodyPr wrap="none" lIns="0" tIns="0" rIns="0" bIns="0" rtlCol="0" anchor="ctr"/>
          <a:lstStyle/>
          <a:p>
            <a:pPr marL="0" indent="0" algn="l">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Connects the UI to the predictive model.</a:t>
            </a:r>
            <a:endParaRPr lang="en-US" sz="1850" dirty="0"/>
          </a:p>
        </p:txBody>
      </p:sp>
      <p:sp>
        <p:nvSpPr>
          <p:cNvPr id="15" name="Text 8"/>
          <p:cNvSpPr/>
          <p:nvPr/>
        </p:nvSpPr>
        <p:spPr>
          <a:xfrm>
            <a:off x="996696" y="5605272"/>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545454"/>
                </a:solidFill>
                <a:latin typeface="思源黑体-思源黑体-Medium" pitchFamily="34" charset="0"/>
                <a:ea typeface="思源黑体-思源黑体-Medium" pitchFamily="34" charset="-122"/>
                <a:cs typeface="思源黑体-思源黑体-Medium" pitchFamily="34" charset="-120"/>
              </a:rPr>
              <a:t>3</a:t>
            </a:r>
            <a:endParaRPr lang="en-US" sz="2320" dirty="0"/>
          </a:p>
        </p:txBody>
      </p:sp>
      <p:sp>
        <p:nvSpPr>
          <p:cNvPr id="16" name="Text 9"/>
          <p:cNvSpPr/>
          <p:nvPr/>
        </p:nvSpPr>
        <p:spPr>
          <a:xfrm>
            <a:off x="996696" y="4206240"/>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545454"/>
                </a:solidFill>
                <a:latin typeface="思源黑体-思源黑体-Medium" pitchFamily="34" charset="0"/>
                <a:ea typeface="思源黑体-思源黑体-Medium" pitchFamily="34" charset="-122"/>
                <a:cs typeface="思源黑体-思源黑体-Medium" pitchFamily="34" charset="-120"/>
              </a:rPr>
              <a:t>2</a:t>
            </a:r>
            <a:endParaRPr lang="en-US" sz="2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8046720" y="4215384"/>
            <a:ext cx="5504688" cy="374904"/>
          </a:xfrm>
          <a:prstGeom prst="rect">
            <a:avLst/>
          </a:prstGeom>
          <a:noFill/>
          <a:ln/>
        </p:spPr>
        <p:txBody>
          <a:bodyPr wrap="none" lIns="0" tIns="0" rIns="0" bIns="0" rtlCol="0" anchor="ctr"/>
          <a:lstStyle/>
          <a:p>
            <a:pPr marL="0" indent="0" algn="l">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Waste Reduction</a:t>
            </a:r>
            <a:endParaRPr lang="en-US" sz="2320" dirty="0"/>
          </a:p>
        </p:txBody>
      </p:sp>
      <p:sp>
        <p:nvSpPr>
          <p:cNvPr id="4" name="Text 1"/>
          <p:cNvSpPr/>
          <p:nvPr/>
        </p:nvSpPr>
        <p:spPr>
          <a:xfrm>
            <a:off x="8046720" y="6099048"/>
            <a:ext cx="5504688" cy="301752"/>
          </a:xfrm>
          <a:prstGeom prst="rect">
            <a:avLst/>
          </a:prstGeom>
          <a:noFill/>
          <a:ln/>
        </p:spPr>
        <p:txBody>
          <a:bodyPr wrap="none" lIns="0" tIns="0" rIns="0" bIns="0" rtlCol="0" anchor="ctr"/>
          <a:lstStyle/>
          <a:p>
            <a:pPr marL="0" indent="0" algn="l">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Enhances quality control measures in sorting.</a:t>
            </a:r>
            <a:endParaRPr lang="en-US" sz="1850" dirty="0"/>
          </a:p>
        </p:txBody>
      </p:sp>
      <p:sp>
        <p:nvSpPr>
          <p:cNvPr id="5" name="Text 2"/>
          <p:cNvSpPr/>
          <p:nvPr/>
        </p:nvSpPr>
        <p:spPr>
          <a:xfrm>
            <a:off x="8046720" y="5586984"/>
            <a:ext cx="5504688" cy="374904"/>
          </a:xfrm>
          <a:prstGeom prst="rect">
            <a:avLst/>
          </a:prstGeom>
          <a:noFill/>
          <a:ln/>
        </p:spPr>
        <p:txBody>
          <a:bodyPr wrap="none" lIns="0" tIns="0" rIns="0" bIns="0" rtlCol="0" anchor="ctr"/>
          <a:lstStyle/>
          <a:p>
            <a:pPr marL="0" indent="0" algn="l">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Quality Control Improvement</a:t>
            </a:r>
            <a:endParaRPr lang="en-US" sz="2320" dirty="0"/>
          </a:p>
        </p:txBody>
      </p:sp>
      <p:sp>
        <p:nvSpPr>
          <p:cNvPr id="6" name="Text 3"/>
          <p:cNvSpPr/>
          <p:nvPr/>
        </p:nvSpPr>
        <p:spPr>
          <a:xfrm>
            <a:off x="841248" y="2724912"/>
            <a:ext cx="6007608" cy="2066544"/>
          </a:xfrm>
          <a:prstGeom prst="rect">
            <a:avLst/>
          </a:prstGeom>
          <a:noFill/>
          <a:ln/>
        </p:spPr>
        <p:txBody>
          <a:bodyPr wrap="square" lIns="0" tIns="0" rIns="0" bIns="0" rtlCol="0" anchor="ctr"/>
          <a:lstStyle/>
          <a:p>
            <a:pPr marL="0" indent="0" algn="l">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The Smart Sorting system demonstrates significant advancements in fruit and vegetable sorting through AI and transfer learning. By automating processes, it enhances efficiency, reduces waste, and improves quality control in the agricultural sector. Future work can expand the model's capabilities and applications.</a:t>
            </a:r>
            <a:endParaRPr lang="en-US" sz="1850" dirty="0"/>
          </a:p>
        </p:txBody>
      </p:sp>
      <p:sp>
        <p:nvSpPr>
          <p:cNvPr id="7" name="Text 4"/>
          <p:cNvSpPr/>
          <p:nvPr/>
        </p:nvSpPr>
        <p:spPr>
          <a:xfrm>
            <a:off x="1200095" y="1092708"/>
            <a:ext cx="12984480" cy="740664"/>
          </a:xfrm>
          <a:prstGeom prst="rect">
            <a:avLst/>
          </a:prstGeom>
          <a:noFill/>
          <a:ln/>
        </p:spPr>
        <p:txBody>
          <a:bodyPr wrap="none" lIns="0" tIns="0" rIns="0" bIns="0" rtlCol="0" anchor="ctr"/>
          <a:lstStyle/>
          <a:p>
            <a:pPr marL="0" indent="0" algn="l">
              <a:lnSpc>
                <a:spcPts val="5800"/>
              </a:lnSpc>
              <a:buNone/>
            </a:pPr>
            <a:r>
              <a:rPr lang="en-US" sz="4640" dirty="0">
                <a:solidFill>
                  <a:schemeClr val="accent5"/>
                </a:solidFill>
                <a:latin typeface="思源黑体-思源黑体-Medium" pitchFamily="34" charset="0"/>
                <a:ea typeface="思源黑体-思源黑体-Medium" pitchFamily="34" charset="-122"/>
                <a:cs typeface="思源黑体-思源黑体-Medium" pitchFamily="34" charset="-120"/>
              </a:rPr>
              <a:t>Advancements in Smart Sorting System</a:t>
            </a:r>
            <a:endParaRPr lang="en-US" sz="4640" dirty="0">
              <a:solidFill>
                <a:schemeClr val="accent5"/>
              </a:solidFill>
            </a:endParaRPr>
          </a:p>
        </p:txBody>
      </p:sp>
      <p:sp>
        <p:nvSpPr>
          <p:cNvPr id="8" name="Text 5"/>
          <p:cNvSpPr/>
          <p:nvPr/>
        </p:nvSpPr>
        <p:spPr>
          <a:xfrm>
            <a:off x="8046720" y="2852928"/>
            <a:ext cx="5504688" cy="374904"/>
          </a:xfrm>
          <a:prstGeom prst="rect">
            <a:avLst/>
          </a:prstGeom>
          <a:noFill/>
          <a:ln/>
        </p:spPr>
        <p:txBody>
          <a:bodyPr wrap="none" lIns="0" tIns="0" rIns="0" bIns="0" rtlCol="0" anchor="ctr"/>
          <a:lstStyle/>
          <a:p>
            <a:pPr marL="0" indent="0" algn="l">
              <a:lnSpc>
                <a:spcPts val="2900"/>
              </a:lnSpc>
              <a:buNone/>
            </a:pPr>
            <a:r>
              <a:rPr lang="en-US" sz="2320" dirty="0">
                <a:solidFill>
                  <a:srgbClr val="3B3B3B"/>
                </a:solidFill>
                <a:latin typeface="思源黑体-思源黑体-Medium" pitchFamily="34" charset="0"/>
                <a:ea typeface="思源黑体-思源黑体-Medium" pitchFamily="34" charset="-122"/>
                <a:cs typeface="思源黑体-思源黑体-Medium" pitchFamily="34" charset="-120"/>
              </a:rPr>
              <a:t>Efficiency Enhancement</a:t>
            </a:r>
            <a:endParaRPr lang="en-US" sz="2320" dirty="0"/>
          </a:p>
        </p:txBody>
      </p:sp>
      <p:sp>
        <p:nvSpPr>
          <p:cNvPr id="9" name="Text 6"/>
          <p:cNvSpPr/>
          <p:nvPr/>
        </p:nvSpPr>
        <p:spPr>
          <a:xfrm>
            <a:off x="8046720" y="3364992"/>
            <a:ext cx="5504688" cy="594360"/>
          </a:xfrm>
          <a:prstGeom prst="rect">
            <a:avLst/>
          </a:prstGeom>
          <a:noFill/>
          <a:ln/>
        </p:spPr>
        <p:txBody>
          <a:bodyPr wrap="square" lIns="0" tIns="0" rIns="0" bIns="0" rtlCol="0" anchor="ctr"/>
          <a:lstStyle/>
          <a:p>
            <a:pPr marL="0" indent="0" algn="l">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Automates sorting processes to improve efficiency.</a:t>
            </a:r>
            <a:endParaRPr lang="en-US" sz="1850" dirty="0"/>
          </a:p>
        </p:txBody>
      </p:sp>
      <p:sp>
        <p:nvSpPr>
          <p:cNvPr id="10" name="Text 7"/>
          <p:cNvSpPr/>
          <p:nvPr/>
        </p:nvSpPr>
        <p:spPr>
          <a:xfrm>
            <a:off x="8046720" y="4727448"/>
            <a:ext cx="5504688" cy="594360"/>
          </a:xfrm>
          <a:prstGeom prst="rect">
            <a:avLst/>
          </a:prstGeom>
          <a:noFill/>
          <a:ln/>
        </p:spPr>
        <p:txBody>
          <a:bodyPr wrap="square" lIns="0" tIns="0" rIns="0" bIns="0" rtlCol="0" anchor="ctr"/>
          <a:lstStyle/>
          <a:p>
            <a:pPr marL="0" indent="0" algn="l">
              <a:lnSpc>
                <a:spcPts val="2320"/>
              </a:lnSpc>
              <a:buNone/>
            </a:pPr>
            <a:r>
              <a:rPr lang="en-US" sz="1850" dirty="0">
                <a:solidFill>
                  <a:srgbClr val="3B3B3B"/>
                </a:solidFill>
                <a:latin typeface="思源黑体-思源黑体-Medium" pitchFamily="34" charset="0"/>
                <a:ea typeface="思源黑体-思源黑体-Medium" pitchFamily="34" charset="-122"/>
                <a:cs typeface="思源黑体-思源黑体-Medium" pitchFamily="34" charset="-120"/>
              </a:rPr>
              <a:t>Significantly reduces waste in the agricultural sector.</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4992EFCC-1BFB-87BE-D607-83CDD0FCC2EE}"/>
              </a:ext>
            </a:extLst>
          </p:cNvPr>
          <p:cNvSpPr txBox="1"/>
          <p:nvPr/>
        </p:nvSpPr>
        <p:spPr>
          <a:xfrm>
            <a:off x="1246872" y="1167573"/>
            <a:ext cx="11892410" cy="6247864"/>
          </a:xfrm>
          <a:prstGeom prst="rect">
            <a:avLst/>
          </a:prstGeom>
          <a:noFill/>
        </p:spPr>
        <p:txBody>
          <a:bodyPr wrap="square" rtlCol="0">
            <a:spAutoFit/>
          </a:bodyPr>
          <a:lstStyle/>
          <a:p>
            <a:r>
              <a:rPr lang="en-US" sz="4000" dirty="0">
                <a:solidFill>
                  <a:schemeClr val="accent5"/>
                </a:solidFill>
              </a:rPr>
              <a:t>CONCLUSION:</a:t>
            </a:r>
          </a:p>
          <a:p>
            <a:endParaRPr lang="en-US" sz="4000" dirty="0"/>
          </a:p>
          <a:p>
            <a:r>
              <a:rPr lang="en-US" sz="4000" dirty="0"/>
              <a:t>                 </a:t>
            </a:r>
            <a:r>
              <a:rPr lang="en-US" sz="4000" dirty="0">
                <a:solidFill>
                  <a:srgbClr val="7030A0"/>
                </a:solidFill>
              </a:rPr>
              <a:t>Smart Sorting using transfer learning effectively automates the detection of rotten fruits and vegetables, improving accuracy and reducing manual effort. By leveraging pre-trained models, it ensures faster, scalable, and reliable quality control—helping reduce food waste and enhance supply chain efficiency.</a:t>
            </a:r>
          </a:p>
          <a:p>
            <a:endParaRPr lang="en-US" sz="4000" dirty="0"/>
          </a:p>
          <a:p>
            <a:r>
              <a:rPr lang="en-US" sz="4000" dirty="0"/>
              <a:t>                     </a:t>
            </a:r>
            <a:endParaRPr lang="en-IN" sz="4000" dirty="0"/>
          </a:p>
        </p:txBody>
      </p:sp>
    </p:spTree>
    <p:extLst>
      <p:ext uri="{BB962C8B-B14F-4D97-AF65-F5344CB8AC3E}">
        <p14:creationId xmlns:p14="http://schemas.microsoft.com/office/powerpoint/2010/main" val="41235464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35</TotalTime>
  <Words>464</Words>
  <Application>Microsoft Office PowerPoint</Application>
  <PresentationFormat>Custom</PresentationFormat>
  <Paragraphs>87</Paragraphs>
  <Slides>10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思源黑体-思源黑体-Medium</vt:lpstr>
      <vt:lpstr>Wingdings 3</vt:lpstr>
      <vt:lpstr>Calibri</vt:lpstr>
      <vt:lpstr>Tw Cen MT</vt:lpstr>
      <vt:lpstr>Tw Cen MT Condensed</vt:lpstr>
      <vt:lpstr>Integral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LENOVO</cp:lastModifiedBy>
  <cp:revision>5</cp:revision>
  <dcterms:created xsi:type="dcterms:W3CDTF">2025-06-25T06:30:14Z</dcterms:created>
  <dcterms:modified xsi:type="dcterms:W3CDTF">2026-02-20T14:31:11Z</dcterms:modified>
</cp:coreProperties>
</file>